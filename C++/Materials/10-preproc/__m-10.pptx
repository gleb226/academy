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358" r:id="rId3"/>
    <p:sldId id="359" r:id="rId4"/>
    <p:sldId id="425" r:id="rId5"/>
    <p:sldId id="426" r:id="rId6"/>
    <p:sldId id="427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7" r:id="rId15"/>
    <p:sldId id="368" r:id="rId16"/>
    <p:sldId id="369" r:id="rId17"/>
    <p:sldId id="370" r:id="rId18"/>
    <p:sldId id="371" r:id="rId19"/>
    <p:sldId id="372" r:id="rId20"/>
    <p:sldId id="373" r:id="rId21"/>
    <p:sldId id="374" r:id="rId22"/>
    <p:sldId id="375" r:id="rId23"/>
    <p:sldId id="377" r:id="rId24"/>
    <p:sldId id="378" r:id="rId25"/>
    <p:sldId id="379" r:id="rId26"/>
    <p:sldId id="376" r:id="rId27"/>
    <p:sldId id="380" r:id="rId28"/>
    <p:sldId id="428" r:id="rId29"/>
    <p:sldId id="429" r:id="rId30"/>
    <p:sldId id="430" r:id="rId31"/>
    <p:sldId id="381" r:id="rId32"/>
    <p:sldId id="382" r:id="rId33"/>
    <p:sldId id="383" r:id="rId34"/>
    <p:sldId id="384" r:id="rId35"/>
    <p:sldId id="385" r:id="rId36"/>
    <p:sldId id="386" r:id="rId37"/>
    <p:sldId id="387" r:id="rId38"/>
    <p:sldId id="388" r:id="rId39"/>
    <p:sldId id="389" r:id="rId40"/>
    <p:sldId id="390" r:id="rId41"/>
    <p:sldId id="391" r:id="rId4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A251673D-1BD5-4C1C-A773-8B52ADC87EF0}">
          <p14:sldIdLst>
            <p14:sldId id="256"/>
            <p14:sldId id="358"/>
            <p14:sldId id="359"/>
            <p14:sldId id="425"/>
            <p14:sldId id="426"/>
            <p14:sldId id="427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7"/>
            <p14:sldId id="378"/>
            <p14:sldId id="379"/>
            <p14:sldId id="376"/>
            <p14:sldId id="380"/>
            <p14:sldId id="428"/>
            <p14:sldId id="429"/>
            <p14:sldId id="43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B587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21" autoAdjust="0"/>
    <p:restoredTop sz="94660"/>
  </p:normalViewPr>
  <p:slideViewPr>
    <p:cSldViewPr snapToGrid="0">
      <p:cViewPr varScale="1">
        <p:scale>
          <a:sx n="66" d="100"/>
          <a:sy n="66" d="100"/>
        </p:scale>
        <p:origin x="53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2BB08-3E43-4407-89EB-5C767B6E9C89}" type="datetimeFigureOut">
              <a:rPr lang="uk-UA" smtClean="0"/>
              <a:t>08.03.2024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39448-0C3E-42FD-AA20-A8151A79FB0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27946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39448-0C3E-42FD-AA20-A8151A79FB0D}" type="slidenum">
              <a:rPr lang="uk-UA" smtClean="0"/>
              <a:t>25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95023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B792FA-4CD1-43EC-8C6A-9ACEA403F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BFE6488-D094-4CF9-AC76-9691F6EBA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C5D1FB-40FB-4F8B-95F7-CD7D11F3E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08.03.2024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5FA82F-3367-407C-A78E-B91CECD03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667580-0969-4DCC-8C70-57EF15C86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5125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BB600C-FBA6-4A10-AF11-D124F3205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1658C-3525-4E72-B8B9-0827C6367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E965E7-F516-48E2-9FD7-DD82FFCE2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08.03.2024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18CE6F-7323-48AD-8B4C-863CD398E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371FF7-EADB-4541-92C7-692E081CD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209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E761F5-C045-4682-9F0F-12ABD79AE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52EE54-31BC-4163-A702-9E6D696B8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946EF0-1C9C-4F55-912E-D750EAF59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08.03.2024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1D79D7-6583-47CB-8DA8-915221C84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D7001A-4009-482F-B89D-9F8C2F869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940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480C9B-F614-4CD0-9821-9A7AD06CC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60C5B9-5D9B-4235-985A-A2B6A8C09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23122F-47B1-46B5-A5CB-E105BC6D78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1A35C4-42F2-485E-B663-31FBBE550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08.03.2024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A38A644-07AC-48A0-A54C-7BB739D9B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8EC37C-4E06-4F37-95E0-2807F3BC2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25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974E13-CE24-4FE8-BAA9-DD45FDE19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AA01F2-CCF0-48C8-9E46-2195419B3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6BA27FC-F68E-427D-898C-4967ABE41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CBDE1E-3871-4BD6-9A45-68174EE91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88D7A51-D942-481E-87A1-3712AD3B1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AAF695-A901-4515-938B-62F455858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08.03.2024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50B1641-E824-4174-9A11-CE4844F56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A55D279-F28B-42E9-B77D-9D3565C0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569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BD8FB-D5CD-4C0C-B1C8-E6F7B6E8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3A5B80-3602-4693-A4EB-C8B8CAEC4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08.03.2024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E557CE3-B615-468C-88FD-70132ADD5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8C4D1A2-B0E2-4DD2-89AD-9186036B3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864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CA420D8-1B9D-47CF-A39B-BED44131F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08.03.2024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62B9885-754E-4332-8F8E-C3E54368F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169BF2-EA99-45C0-B242-BA41AB5AF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384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E6B7C3-B5F0-46E7-8FF7-A133F3F90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6B1C62-78FF-45C4-A4B3-34589A7D8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CEF461-BF91-49F3-B354-016332DC0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AB141B-9670-4C21-8335-7715A5DC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08.03.2024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D990B3-84F4-428A-859B-A363C8304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5B95FF-78DB-48C2-84B4-9D6846EEA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860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413616-8036-404C-99E4-A7F5E3C6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BDBFCAA-6646-4519-B492-A5E3A01C2D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180CF1-AD70-4FA1-B7BD-300728B13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BD365A-5755-4A0F-8FC5-15CC6F550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08.03.2024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B1F810-688C-410C-BC24-830B0AF24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9E8378-46FE-4E3D-86FD-D6CFF99F3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073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61CFC1-EC7D-456E-A7FE-A268D3EC4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C84193D-2BC9-4C8F-BF87-95BB8F207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2D9A51-5C74-4FD8-BC7E-F511119CE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08.03.2024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F1E9B9-577A-4788-AA8C-7FE8E8D6D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FA4A6B-8780-4473-A6FB-3504C2043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918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A5CF2B1-A946-4D76-AD66-EE93B11BFE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265F272-4972-4F0F-91D9-CA302DDC6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9FE06C-A9B9-4B3A-AB47-83C2C167B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08.03.2024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A25E1D-D0A1-423D-BA35-EC250EFCD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21386A-F067-4EE5-AAE2-BEC05BA6D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880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E93F78-56C7-4C2D-B624-DB38497A6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A1F43B-301B-4506-B5A0-F4A55F8BA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6CCC5C-83CE-4DD8-A169-2A25E31A4A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94769-279B-4F56-A258-1626BE02FB52}" type="datetimeFigureOut">
              <a:rPr lang="ru-RU" smtClean="0"/>
              <a:t>08.03.2024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04AAAF-C51E-4D0C-98B2-E7205DA7E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4A6EDF-DFAA-44B5-A1A4-ED3ED3283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33737-219D-4D55-A424-2E8D79DD27B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27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57E4A-D881-4CCA-AA6B-FD06D32CA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2"/>
            <a:ext cx="12192000" cy="2619058"/>
          </a:xfrm>
        </p:spPr>
        <p:txBody>
          <a:bodyPr>
            <a:normAutofit/>
          </a:bodyPr>
          <a:lstStyle/>
          <a:p>
            <a:r>
              <a:rPr lang="uk-UA" b="1" dirty="0"/>
              <a:t>Препроцесор та його використання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87C11C-4A3E-4539-A6E1-9F6DC07AA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3741420"/>
            <a:ext cx="12192000" cy="16557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FEDB99-D1C5-4BF5-BE30-A94CA8DE3686}"/>
              </a:ext>
            </a:extLst>
          </p:cNvPr>
          <p:cNvSpPr txBox="1"/>
          <p:nvPr/>
        </p:nvSpPr>
        <p:spPr>
          <a:xfrm>
            <a:off x="8218966" y="5899493"/>
            <a:ext cx="356190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uk-UA" sz="2200" dirty="0"/>
              <a:t>Викладач: Верещагін О.О.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1821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Препроцесор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b="1" dirty="0">
                <a:highlight>
                  <a:srgbClr val="00FF00"/>
                </a:highlight>
              </a:rPr>
              <a:t>Препроцесор</a:t>
            </a:r>
            <a:r>
              <a:rPr lang="uk-UA" sz="1800" dirty="0"/>
              <a:t> — це програма, яка виконує деякі (іноді вельми значні) маніпуляції з початковим текстом програми перед тим, як його буде </a:t>
            </a:r>
            <a:r>
              <a:rPr lang="uk-UA" sz="1800" dirty="0" err="1"/>
              <a:t>скомпільовано</a:t>
            </a:r>
            <a:r>
              <a:rPr lang="uk-UA" sz="1800" dirty="0"/>
              <a:t>. Дослівний переклад з англійської слова препроцесор — «</a:t>
            </a:r>
            <a:r>
              <a:rPr lang="uk-UA" sz="1800" b="1" dirty="0">
                <a:highlight>
                  <a:srgbClr val="00FF00"/>
                </a:highlight>
              </a:rPr>
              <a:t>попередній обробник</a:t>
            </a:r>
            <a:r>
              <a:rPr lang="uk-UA" sz="1800" dirty="0"/>
              <a:t>». 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Препроцесори створюють вхідний текст для компіляторів і можуть виконувати такі функції: 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■ обробку макровизначень; 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■ включення файлів; 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■ «раціональну» </a:t>
            </a:r>
            <a:r>
              <a:rPr lang="uk-UA" sz="1800" dirty="0" err="1"/>
              <a:t>передобробку</a:t>
            </a:r>
            <a:r>
              <a:rPr lang="uk-UA" sz="1800" dirty="0"/>
              <a:t>; 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■ розширення мови.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 err="1"/>
              <a:t>Наприклад</a:t>
            </a:r>
            <a:r>
              <a:rPr lang="ru-RU" sz="1800" dirty="0"/>
              <a:t>, </a:t>
            </a:r>
            <a:r>
              <a:rPr lang="ru-RU" sz="1800" dirty="0" err="1"/>
              <a:t>досить</a:t>
            </a:r>
            <a:r>
              <a:rPr lang="ru-RU" sz="1800" dirty="0"/>
              <a:t> часто в </a:t>
            </a:r>
            <a:r>
              <a:rPr lang="ru-RU" sz="1800" dirty="0" err="1"/>
              <a:t>програмах</a:t>
            </a:r>
            <a:r>
              <a:rPr lang="ru-RU" sz="1800" dirty="0"/>
              <a:t> доводиться </a:t>
            </a:r>
            <a:r>
              <a:rPr lang="ru-RU" sz="1800" dirty="0" err="1"/>
              <a:t>використовувати</a:t>
            </a:r>
            <a:r>
              <a:rPr lang="ru-RU" sz="1800" dirty="0"/>
              <a:t> числа, </a:t>
            </a:r>
            <a:r>
              <a:rPr lang="ru-RU" sz="1800" dirty="0" err="1"/>
              <a:t>які</a:t>
            </a:r>
            <a:r>
              <a:rPr lang="ru-RU" sz="1800" dirty="0"/>
              <a:t> «</a:t>
            </a:r>
            <a:r>
              <a:rPr lang="ru-RU" sz="1800" dirty="0" err="1"/>
              <a:t>нічого</a:t>
            </a:r>
            <a:r>
              <a:rPr lang="ru-RU" sz="1800" dirty="0"/>
              <a:t> не </a:t>
            </a:r>
            <a:r>
              <a:rPr lang="ru-RU" sz="1800" dirty="0" err="1"/>
              <a:t>говорять</a:t>
            </a:r>
            <a:r>
              <a:rPr lang="ru-RU" sz="1800" dirty="0"/>
              <a:t>». </a:t>
            </a:r>
            <a:r>
              <a:rPr lang="ru-RU" sz="1800" dirty="0" err="1"/>
              <a:t>Це</a:t>
            </a:r>
            <a:r>
              <a:rPr lang="ru-RU" sz="1800" dirty="0"/>
              <a:t> </a:t>
            </a:r>
            <a:r>
              <a:rPr lang="ru-RU" sz="1800" dirty="0" err="1"/>
              <a:t>можуть</a:t>
            </a:r>
            <a:r>
              <a:rPr lang="ru-RU" sz="1800" dirty="0"/>
              <a:t> бути </a:t>
            </a:r>
            <a:r>
              <a:rPr lang="ru-RU" sz="1800" dirty="0" err="1"/>
              <a:t>якісь</a:t>
            </a:r>
            <a:r>
              <a:rPr lang="ru-RU" sz="1800" dirty="0"/>
              <a:t> </a:t>
            </a:r>
            <a:r>
              <a:rPr lang="ru-RU" sz="1800" dirty="0" err="1"/>
              <a:t>математичні</a:t>
            </a:r>
            <a:r>
              <a:rPr lang="ru-RU" sz="1800" dirty="0"/>
              <a:t> </a:t>
            </a:r>
            <a:r>
              <a:rPr lang="ru-RU" sz="1800" dirty="0" err="1"/>
              <a:t>константи</a:t>
            </a:r>
            <a:r>
              <a:rPr lang="ru-RU" sz="1800" dirty="0"/>
              <a:t> </a:t>
            </a:r>
            <a:r>
              <a:rPr lang="ru-RU" sz="1800" dirty="0" err="1"/>
              <a:t>або</a:t>
            </a:r>
            <a:r>
              <a:rPr lang="ru-RU" sz="1800" dirty="0"/>
              <a:t> </a:t>
            </a:r>
            <a:r>
              <a:rPr lang="ru-RU" sz="1800" dirty="0" err="1"/>
              <a:t>розміри</a:t>
            </a:r>
            <a:r>
              <a:rPr lang="ru-RU" sz="1800" dirty="0"/>
              <a:t> </a:t>
            </a:r>
            <a:r>
              <a:rPr lang="ru-RU" sz="1800" dirty="0" err="1"/>
              <a:t>використовуваних</a:t>
            </a:r>
            <a:r>
              <a:rPr lang="ru-RU" sz="1800" dirty="0"/>
              <a:t> у </a:t>
            </a:r>
            <a:r>
              <a:rPr lang="ru-RU" sz="1800" dirty="0" err="1"/>
              <a:t>програмі</a:t>
            </a:r>
            <a:r>
              <a:rPr lang="ru-RU" sz="1800" dirty="0"/>
              <a:t> </a:t>
            </a:r>
            <a:r>
              <a:rPr lang="ru-RU" sz="1800" dirty="0" err="1"/>
              <a:t>масивів</a:t>
            </a:r>
            <a:r>
              <a:rPr lang="ru-RU" sz="1800" dirty="0"/>
              <a:t> та </a:t>
            </a:r>
            <a:r>
              <a:rPr lang="ru-RU" sz="1800" dirty="0" err="1"/>
              <a:t>ін</a:t>
            </a:r>
            <a:r>
              <a:rPr lang="ru-RU" sz="1800" dirty="0"/>
              <a:t>. </a:t>
            </a:r>
            <a:r>
              <a:rPr lang="ru-RU" sz="1800" dirty="0" err="1"/>
              <a:t>Загальновизнано</a:t>
            </a:r>
            <a:r>
              <a:rPr lang="ru-RU" sz="1800" dirty="0"/>
              <a:t>, </a:t>
            </a:r>
            <a:r>
              <a:rPr lang="ru-RU" sz="1800" dirty="0" err="1"/>
              <a:t>що</a:t>
            </a:r>
            <a:r>
              <a:rPr lang="ru-RU" sz="1800" dirty="0"/>
              <a:t> </a:t>
            </a:r>
            <a:r>
              <a:rPr lang="ru-RU" sz="1800" dirty="0" err="1"/>
              <a:t>надмір</a:t>
            </a:r>
            <a:r>
              <a:rPr lang="ru-RU" sz="1800" dirty="0"/>
              <a:t> таких констант </a:t>
            </a:r>
            <a:r>
              <a:rPr lang="ru-RU" sz="1800" dirty="0" err="1"/>
              <a:t>ускладнює</a:t>
            </a:r>
            <a:r>
              <a:rPr lang="ru-RU" sz="1800" dirty="0"/>
              <a:t> </a:t>
            </a:r>
            <a:r>
              <a:rPr lang="ru-RU" sz="1800" dirty="0" err="1"/>
              <a:t>розуміння</a:t>
            </a:r>
            <a:r>
              <a:rPr lang="ru-RU" sz="1800" dirty="0"/>
              <a:t> </a:t>
            </a:r>
            <a:r>
              <a:rPr lang="ru-RU" sz="1800" dirty="0" err="1"/>
              <a:t>програм</a:t>
            </a:r>
            <a:r>
              <a:rPr lang="ru-RU" sz="1800" dirty="0"/>
              <a:t> і </a:t>
            </a:r>
            <a:r>
              <a:rPr lang="ru-RU" sz="1800" dirty="0" err="1"/>
              <a:t>вважається</a:t>
            </a:r>
            <a:r>
              <a:rPr lang="ru-RU" sz="1800" dirty="0"/>
              <a:t> </a:t>
            </a:r>
            <a:r>
              <a:rPr lang="ru-RU" sz="1800" dirty="0" err="1"/>
              <a:t>ознакою</a:t>
            </a:r>
            <a:r>
              <a:rPr lang="ru-RU" sz="1800" dirty="0"/>
              <a:t> поганого стилю </a:t>
            </a:r>
            <a:r>
              <a:rPr lang="ru-RU" sz="1800" dirty="0" err="1"/>
              <a:t>програмування</a:t>
            </a:r>
            <a:r>
              <a:rPr lang="ru-RU" sz="1800" dirty="0"/>
              <a:t>. У </a:t>
            </a:r>
            <a:r>
              <a:rPr lang="ru-RU" sz="1800" dirty="0" err="1"/>
              <a:t>середовищі</a:t>
            </a:r>
            <a:r>
              <a:rPr lang="ru-RU" sz="1800" dirty="0"/>
              <a:t> </a:t>
            </a:r>
            <a:r>
              <a:rPr lang="ru-RU" sz="1800" dirty="0" err="1"/>
              <a:t>програмістів</a:t>
            </a:r>
            <a:r>
              <a:rPr lang="ru-RU" sz="1800" dirty="0"/>
              <a:t> </a:t>
            </a:r>
            <a:r>
              <a:rPr lang="ru-RU" sz="1800" dirty="0" err="1"/>
              <a:t>такі</a:t>
            </a:r>
            <a:r>
              <a:rPr lang="ru-RU" sz="1800" dirty="0"/>
              <a:t> </a:t>
            </a:r>
            <a:r>
              <a:rPr lang="ru-RU" sz="1800" dirty="0" err="1"/>
              <a:t>константи</a:t>
            </a:r>
            <a:r>
              <a:rPr lang="ru-RU" sz="1800" dirty="0"/>
              <a:t> </a:t>
            </a:r>
            <a:r>
              <a:rPr lang="ru-RU" sz="1800" dirty="0" err="1"/>
              <a:t>отримали</a:t>
            </a:r>
            <a:r>
              <a:rPr lang="ru-RU" sz="1800" dirty="0"/>
              <a:t> </a:t>
            </a:r>
            <a:r>
              <a:rPr lang="ru-RU" sz="1800" dirty="0" err="1"/>
              <a:t>уїдливу</a:t>
            </a:r>
            <a:r>
              <a:rPr lang="ru-RU" sz="1800" dirty="0"/>
              <a:t> </a:t>
            </a:r>
            <a:r>
              <a:rPr lang="ru-RU" sz="1800" dirty="0" err="1"/>
              <a:t>назву</a:t>
            </a:r>
            <a:r>
              <a:rPr lang="ru-RU" sz="1800" dirty="0"/>
              <a:t> </a:t>
            </a:r>
            <a:r>
              <a:rPr lang="ru-RU" sz="1800" dirty="0" err="1"/>
              <a:t>магічних</a:t>
            </a:r>
            <a:r>
              <a:rPr lang="ru-RU" sz="1800" dirty="0"/>
              <a:t> чисел. </a:t>
            </a:r>
            <a:r>
              <a:rPr lang="ru-RU" sz="1800" dirty="0" err="1"/>
              <a:t>Аби</a:t>
            </a:r>
            <a:r>
              <a:rPr lang="ru-RU" sz="1800" dirty="0"/>
              <a:t> </a:t>
            </a:r>
            <a:r>
              <a:rPr lang="ru-RU" sz="1800" dirty="0" err="1"/>
              <a:t>програма</a:t>
            </a:r>
            <a:r>
              <a:rPr lang="ru-RU" sz="1800" dirty="0"/>
              <a:t> не </a:t>
            </a:r>
            <a:r>
              <a:rPr lang="ru-RU" sz="1800" dirty="0" err="1"/>
              <a:t>була</a:t>
            </a:r>
            <a:r>
              <a:rPr lang="ru-RU" sz="1800" dirty="0"/>
              <a:t> </a:t>
            </a:r>
            <a:r>
              <a:rPr lang="ru-RU" sz="1800" dirty="0" err="1"/>
              <a:t>багата</a:t>
            </a:r>
            <a:r>
              <a:rPr lang="ru-RU" sz="1800" dirty="0"/>
              <a:t> на них, </a:t>
            </a:r>
            <a:r>
              <a:rPr lang="ru-RU" sz="1800" dirty="0" err="1"/>
              <a:t>мови</a:t>
            </a:r>
            <a:r>
              <a:rPr lang="ru-RU" sz="1800" dirty="0"/>
              <a:t> </a:t>
            </a:r>
            <a:r>
              <a:rPr lang="ru-RU" sz="1800" dirty="0" err="1"/>
              <a:t>програмування</a:t>
            </a:r>
            <a:r>
              <a:rPr lang="ru-RU" sz="1800" dirty="0"/>
              <a:t> </a:t>
            </a:r>
            <a:r>
              <a:rPr lang="ru-RU" sz="1800" dirty="0" err="1"/>
              <a:t>дозволяють</a:t>
            </a:r>
            <a:r>
              <a:rPr lang="ru-RU" sz="1800" dirty="0"/>
              <a:t> </a:t>
            </a:r>
            <a:r>
              <a:rPr lang="ru-RU" sz="1800" dirty="0" err="1"/>
              <a:t>дати</a:t>
            </a:r>
            <a:r>
              <a:rPr lang="ru-RU" sz="1800" dirty="0"/>
              <a:t> </a:t>
            </a:r>
            <a:r>
              <a:rPr lang="ru-RU" sz="1800" dirty="0" err="1"/>
              <a:t>константі</a:t>
            </a:r>
            <a:r>
              <a:rPr lang="ru-RU" sz="1800" dirty="0"/>
              <a:t> </a:t>
            </a:r>
            <a:r>
              <a:rPr lang="ru-RU" sz="1800" dirty="0" err="1"/>
              <a:t>ім'я</a:t>
            </a:r>
            <a:r>
              <a:rPr lang="ru-RU" sz="1800" dirty="0"/>
              <a:t> та </a:t>
            </a:r>
            <a:r>
              <a:rPr lang="ru-RU" sz="1800" dirty="0" err="1"/>
              <a:t>надалі</a:t>
            </a:r>
            <a:r>
              <a:rPr lang="ru-RU" sz="1800" dirty="0"/>
              <a:t> </a:t>
            </a:r>
            <a:r>
              <a:rPr lang="ru-RU" sz="1800" dirty="0" err="1"/>
              <a:t>використовувати</a:t>
            </a:r>
            <a:r>
              <a:rPr lang="ru-RU" sz="1800" dirty="0"/>
              <a:t> </a:t>
            </a:r>
            <a:r>
              <a:rPr lang="ru-RU" sz="1800" dirty="0" err="1"/>
              <a:t>його</a:t>
            </a:r>
            <a:r>
              <a:rPr lang="ru-RU" sz="1800" dirty="0"/>
              <a:t> </a:t>
            </a:r>
            <a:r>
              <a:rPr lang="ru-RU" sz="1800" dirty="0" err="1"/>
              <a:t>всюди</a:t>
            </a:r>
            <a:r>
              <a:rPr lang="ru-RU" sz="1800" dirty="0"/>
              <a:t> </a:t>
            </a:r>
            <a:r>
              <a:rPr lang="ru-RU" sz="1800" dirty="0" err="1"/>
              <a:t>замість</a:t>
            </a:r>
            <a:r>
              <a:rPr lang="ru-RU" sz="1800" dirty="0"/>
              <a:t> </a:t>
            </a:r>
            <a:r>
              <a:rPr lang="ru-RU" sz="1800" dirty="0" err="1"/>
              <a:t>самої</a:t>
            </a:r>
            <a:r>
              <a:rPr lang="ru-RU" sz="1800" dirty="0"/>
              <a:t> </a:t>
            </a:r>
            <a:r>
              <a:rPr lang="ru-RU" sz="1800" dirty="0" err="1"/>
              <a:t>константи</a:t>
            </a:r>
            <a:r>
              <a:rPr lang="ru-RU" sz="1800" dirty="0"/>
              <a:t>.</a:t>
            </a:r>
            <a:endParaRPr lang="uk-UA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</p:txBody>
      </p:sp>
    </p:spTree>
    <p:extLst>
      <p:ext uri="{BB962C8B-B14F-4D97-AF65-F5344CB8AC3E}">
        <p14:creationId xmlns:p14="http://schemas.microsoft.com/office/powerpoint/2010/main" val="1772892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Препроцесор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Ви </a:t>
            </a:r>
            <a:r>
              <a:rPr lang="ru-RU" sz="1800" dirty="0" err="1"/>
              <a:t>вже</a:t>
            </a:r>
            <a:r>
              <a:rPr lang="ru-RU" sz="1800" dirty="0"/>
              <a:t> </a:t>
            </a:r>
            <a:r>
              <a:rPr lang="ru-RU" sz="1800" dirty="0" err="1"/>
              <a:t>створювали</a:t>
            </a:r>
            <a:r>
              <a:rPr lang="ru-RU" sz="1800" dirty="0"/>
              <a:t> </a:t>
            </a:r>
            <a:r>
              <a:rPr lang="ru-RU" sz="1800" dirty="0" err="1"/>
              <a:t>константи</a:t>
            </a:r>
            <a:r>
              <a:rPr lang="ru-RU" sz="1800" dirty="0"/>
              <a:t> за </a:t>
            </a:r>
            <a:r>
              <a:rPr lang="ru-RU" sz="1800" dirty="0" err="1"/>
              <a:t>допомогою</a:t>
            </a:r>
            <a:r>
              <a:rPr lang="ru-RU" sz="1800" dirty="0"/>
              <a:t> </a:t>
            </a:r>
            <a:r>
              <a:rPr lang="ru-RU" sz="1800" dirty="0" err="1"/>
              <a:t>ключового</a:t>
            </a:r>
            <a:r>
              <a:rPr lang="ru-RU" sz="1800" dirty="0"/>
              <a:t> слова </a:t>
            </a:r>
            <a:r>
              <a:rPr lang="ru-RU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ru-RU" sz="1800" dirty="0"/>
              <a:t>, </a:t>
            </a:r>
            <a:r>
              <a:rPr lang="ru-RU" sz="1800" dirty="0" err="1"/>
              <a:t>щоб</a:t>
            </a:r>
            <a:r>
              <a:rPr lang="ru-RU" sz="1800" dirty="0"/>
              <a:t> </a:t>
            </a:r>
            <a:r>
              <a:rPr lang="ru-RU" sz="1800" dirty="0" err="1"/>
              <a:t>уникнути</a:t>
            </a:r>
            <a:r>
              <a:rPr lang="ru-RU" sz="1800" dirty="0"/>
              <a:t> такого </a:t>
            </a:r>
            <a:r>
              <a:rPr lang="ru-RU" sz="1800" dirty="0" err="1"/>
              <a:t>магічного</a:t>
            </a:r>
            <a:r>
              <a:rPr lang="ru-RU" sz="1800" dirty="0"/>
              <a:t> </a:t>
            </a:r>
            <a:r>
              <a:rPr lang="ru-RU" sz="1800" dirty="0" err="1"/>
              <a:t>ефекту</a:t>
            </a:r>
            <a:r>
              <a:rPr lang="ru-RU" sz="1800" dirty="0"/>
              <a:t>. </a:t>
            </a:r>
            <a:r>
              <a:rPr lang="ru-RU" sz="1800" b="1" dirty="0" err="1">
                <a:highlight>
                  <a:srgbClr val="00FF00"/>
                </a:highlight>
              </a:rPr>
              <a:t>Другий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спосіб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боротися</a:t>
            </a:r>
            <a:r>
              <a:rPr lang="ru-RU" sz="1800" b="1" dirty="0">
                <a:highlight>
                  <a:srgbClr val="00FF00"/>
                </a:highlight>
              </a:rPr>
              <a:t> з </a:t>
            </a:r>
            <a:r>
              <a:rPr lang="ru-RU" sz="1800" b="1" dirty="0" err="1">
                <a:highlight>
                  <a:srgbClr val="00FF00"/>
                </a:highlight>
              </a:rPr>
              <a:t>цим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ефектом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надає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препроцесор</a:t>
            </a:r>
            <a:r>
              <a:rPr lang="ru-RU" sz="1800" dirty="0"/>
              <a:t>. </a:t>
            </a:r>
            <a:r>
              <a:rPr lang="ru-RU" sz="1800" dirty="0" err="1"/>
              <a:t>Наприклад</a:t>
            </a:r>
            <a:r>
              <a:rPr lang="ru-RU" sz="1800" dirty="0"/>
              <a:t>, за </a:t>
            </a:r>
            <a:r>
              <a:rPr lang="ru-RU" sz="1800" dirty="0" err="1"/>
              <a:t>допомогою</a:t>
            </a:r>
            <a:r>
              <a:rPr lang="ru-RU" sz="1800" dirty="0"/>
              <a:t> </a:t>
            </a:r>
            <a:r>
              <a:rPr lang="ru-RU" sz="1800" dirty="0" err="1"/>
              <a:t>визначень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 err="1"/>
              <a:t>препроцесор</a:t>
            </a:r>
            <a:r>
              <a:rPr lang="ru-RU" sz="1800" dirty="0"/>
              <a:t> </a:t>
            </a:r>
            <a:r>
              <a:rPr lang="ru-RU" sz="1800" dirty="0" err="1"/>
              <a:t>замінить</a:t>
            </a:r>
            <a:r>
              <a:rPr lang="ru-RU" sz="1800" dirty="0"/>
              <a:t> у </a:t>
            </a:r>
            <a:r>
              <a:rPr lang="ru-RU" sz="1800" dirty="0" err="1"/>
              <a:t>програмі</a:t>
            </a:r>
            <a:r>
              <a:rPr lang="ru-RU" sz="1800" dirty="0"/>
              <a:t> </a:t>
            </a:r>
            <a:r>
              <a:rPr lang="ru-RU" sz="1800" dirty="0" err="1"/>
              <a:t>всі</a:t>
            </a:r>
            <a:r>
              <a:rPr lang="ru-RU" sz="1800" dirty="0"/>
              <a:t> </a:t>
            </a:r>
            <a:r>
              <a:rPr lang="ru-RU" sz="1800" dirty="0" err="1"/>
              <a:t>імена</a:t>
            </a:r>
            <a:r>
              <a:rPr lang="ru-RU" sz="1800" dirty="0"/>
              <a:t> 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P1</a:t>
            </a:r>
            <a:r>
              <a:rPr lang="ru-RU" sz="1800" dirty="0"/>
              <a:t> та 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ru-RU" sz="1800" dirty="0"/>
              <a:t> на </a:t>
            </a:r>
            <a:r>
              <a:rPr lang="ru-RU" sz="1800" dirty="0" err="1"/>
              <a:t>відповідні</a:t>
            </a:r>
            <a:r>
              <a:rPr lang="ru-RU" sz="1800" dirty="0"/>
              <a:t> </a:t>
            </a:r>
            <a:r>
              <a:rPr lang="ru-RU" sz="1800" dirty="0" err="1"/>
              <a:t>числові</a:t>
            </a:r>
            <a:r>
              <a:rPr lang="ru-RU" sz="1800" dirty="0"/>
              <a:t> </a:t>
            </a:r>
            <a:r>
              <a:rPr lang="ru-RU" sz="1800" dirty="0" err="1"/>
              <a:t>константи</a:t>
            </a:r>
            <a:r>
              <a:rPr lang="ru-RU" sz="1800" dirty="0"/>
              <a:t>. </a:t>
            </a:r>
            <a:r>
              <a:rPr lang="ru-RU" sz="1800" dirty="0" err="1"/>
              <a:t>Тепер</a:t>
            </a:r>
            <a:r>
              <a:rPr lang="ru-RU" sz="1800" dirty="0"/>
              <a:t>, коли </a:t>
            </a:r>
            <a:r>
              <a:rPr lang="ru-RU" sz="1800" dirty="0" err="1"/>
              <a:t>ви</a:t>
            </a:r>
            <a:r>
              <a:rPr lang="ru-RU" sz="1800" dirty="0"/>
              <a:t> </a:t>
            </a:r>
            <a:r>
              <a:rPr lang="ru-RU" sz="1800" dirty="0" err="1"/>
              <a:t>виявите</a:t>
            </a:r>
            <a:r>
              <a:rPr lang="ru-RU" sz="1800" dirty="0"/>
              <a:t>, </a:t>
            </a:r>
            <a:r>
              <a:rPr lang="ru-RU" sz="1800" dirty="0" err="1"/>
              <a:t>що</a:t>
            </a:r>
            <a:r>
              <a:rPr lang="ru-RU" sz="1800" dirty="0"/>
              <a:t> неправильно написали </a:t>
            </a:r>
            <a:r>
              <a:rPr lang="ru-RU" sz="1800" dirty="0" err="1"/>
              <a:t>наближене</a:t>
            </a:r>
            <a:r>
              <a:rPr lang="ru-RU" sz="1800" dirty="0"/>
              <a:t> </a:t>
            </a:r>
            <a:r>
              <a:rPr lang="ru-RU" sz="1800" dirty="0" err="1"/>
              <a:t>значення</a:t>
            </a:r>
            <a:r>
              <a:rPr lang="ru-RU" sz="1800" dirty="0"/>
              <a:t> </a:t>
            </a:r>
            <a:r>
              <a:rPr lang="ru-RU" sz="1800" dirty="0" err="1"/>
              <a:t>основи</a:t>
            </a:r>
            <a:r>
              <a:rPr lang="ru-RU" sz="1800" dirty="0"/>
              <a:t> </a:t>
            </a:r>
            <a:r>
              <a:rPr lang="ru-RU" sz="1800" dirty="0" err="1"/>
              <a:t>натуральних</a:t>
            </a:r>
            <a:r>
              <a:rPr lang="ru-RU" sz="1800" dirty="0"/>
              <a:t> </a:t>
            </a:r>
            <a:r>
              <a:rPr lang="ru-RU" sz="1800" dirty="0" err="1"/>
              <a:t>логарифмів</a:t>
            </a:r>
            <a:r>
              <a:rPr lang="ru-RU" sz="1800" dirty="0"/>
              <a:t>, вам </a:t>
            </a:r>
            <a:r>
              <a:rPr lang="ru-RU" sz="1800" dirty="0" err="1"/>
              <a:t>лише</a:t>
            </a:r>
            <a:r>
              <a:rPr lang="ru-RU" sz="1800" dirty="0"/>
              <a:t> треба </a:t>
            </a:r>
            <a:r>
              <a:rPr lang="ru-RU" sz="1800" dirty="0" err="1"/>
              <a:t>виправити</a:t>
            </a:r>
            <a:r>
              <a:rPr lang="ru-RU" sz="1800" dirty="0"/>
              <a:t> </a:t>
            </a:r>
            <a:r>
              <a:rPr lang="ru-RU" sz="1800" dirty="0" err="1"/>
              <a:t>єдиний</a:t>
            </a:r>
            <a:r>
              <a:rPr lang="ru-RU" sz="1800" dirty="0"/>
              <a:t> рядок </a:t>
            </a:r>
            <a:r>
              <a:rPr lang="ru-RU" sz="1800" dirty="0" err="1"/>
              <a:t>із</a:t>
            </a:r>
            <a:r>
              <a:rPr lang="ru-RU" sz="1800" dirty="0"/>
              <a:t> </a:t>
            </a:r>
            <a:r>
              <a:rPr lang="ru-RU" sz="1800" dirty="0" err="1"/>
              <a:t>визначенням</a:t>
            </a:r>
            <a:r>
              <a:rPr lang="ru-RU" sz="1800" dirty="0"/>
              <a:t> </a:t>
            </a:r>
            <a:r>
              <a:rPr lang="ru-RU" sz="1800" dirty="0" err="1"/>
              <a:t>константи</a:t>
            </a:r>
            <a:r>
              <a:rPr lang="ru-RU" sz="1800" dirty="0"/>
              <a:t>, а не </a:t>
            </a:r>
            <a:r>
              <a:rPr lang="ru-RU" sz="1800" dirty="0" err="1"/>
              <a:t>переглядати</a:t>
            </a:r>
            <a:r>
              <a:rPr lang="ru-RU" sz="1800" dirty="0"/>
              <a:t> всю </a:t>
            </a:r>
            <a:r>
              <a:rPr lang="ru-RU" sz="1800" dirty="0" err="1"/>
              <a:t>програму</a:t>
            </a:r>
            <a:r>
              <a:rPr lang="ru-RU" sz="1800" dirty="0"/>
              <a:t>: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#define E 2.71828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 err="1"/>
              <a:t>Препроцесор</a:t>
            </a:r>
            <a:r>
              <a:rPr lang="ru-RU" sz="1800" dirty="0"/>
              <a:t> </a:t>
            </a:r>
            <a:r>
              <a:rPr lang="ru-RU" sz="1800" dirty="0" err="1"/>
              <a:t>мови</a:t>
            </a:r>
            <a:r>
              <a:rPr lang="ru-RU" sz="1800" dirty="0"/>
              <a:t> C++ </a:t>
            </a:r>
            <a:r>
              <a:rPr lang="ru-RU" sz="1800" dirty="0" err="1"/>
              <a:t>дає</a:t>
            </a:r>
            <a:r>
              <a:rPr lang="ru-RU" sz="1800" dirty="0"/>
              <a:t> </a:t>
            </a:r>
            <a:r>
              <a:rPr lang="ru-RU" sz="1800" dirty="0" err="1"/>
              <a:t>змогу</a:t>
            </a:r>
            <a:r>
              <a:rPr lang="ru-RU" sz="1800" dirty="0"/>
              <a:t> </a:t>
            </a:r>
            <a:r>
              <a:rPr lang="ru-RU" sz="1800" dirty="0" err="1"/>
              <a:t>перевизначати</a:t>
            </a:r>
            <a:r>
              <a:rPr lang="ru-RU" sz="1800" dirty="0"/>
              <a:t> не </a:t>
            </a:r>
            <a:r>
              <a:rPr lang="ru-RU" sz="1800" dirty="0" err="1"/>
              <a:t>тільки</a:t>
            </a:r>
            <a:r>
              <a:rPr lang="ru-RU" sz="1800" dirty="0"/>
              <a:t> </a:t>
            </a:r>
            <a:r>
              <a:rPr lang="ru-RU" sz="1800" dirty="0" err="1"/>
              <a:t>константи</a:t>
            </a:r>
            <a:r>
              <a:rPr lang="ru-RU" sz="1800" dirty="0"/>
              <a:t>, але й </a:t>
            </a:r>
            <a:r>
              <a:rPr lang="ru-RU" sz="1800" dirty="0" err="1"/>
              <a:t>цілі</a:t>
            </a:r>
            <a:r>
              <a:rPr lang="ru-RU" sz="1800" dirty="0"/>
              <a:t> </a:t>
            </a:r>
            <a:r>
              <a:rPr lang="ru-RU" sz="1800" dirty="0" err="1"/>
              <a:t>програмні</a:t>
            </a:r>
            <a:r>
              <a:rPr lang="ru-RU" sz="1800" dirty="0"/>
              <a:t> </a:t>
            </a:r>
            <a:r>
              <a:rPr lang="ru-RU" sz="1800" dirty="0" err="1"/>
              <a:t>конструкції</a:t>
            </a:r>
            <a:r>
              <a:rPr lang="ru-RU" sz="1800" dirty="0"/>
              <a:t>. </a:t>
            </a:r>
            <a:r>
              <a:rPr lang="ru-RU" sz="1800" dirty="0" err="1"/>
              <a:t>Наприклад</a:t>
            </a:r>
            <a:r>
              <a:rPr lang="ru-RU" sz="1800" dirty="0"/>
              <a:t>, </a:t>
            </a:r>
            <a:r>
              <a:rPr lang="ru-RU" sz="1800" dirty="0" err="1"/>
              <a:t>можна</a:t>
            </a:r>
            <a:r>
              <a:rPr lang="ru-RU" sz="1800" dirty="0"/>
              <a:t> </a:t>
            </a:r>
            <a:r>
              <a:rPr lang="ru-RU" sz="1800" dirty="0" err="1"/>
              <a:t>написати</a:t>
            </a:r>
            <a:r>
              <a:rPr lang="ru-RU" sz="1800" dirty="0"/>
              <a:t> </a:t>
            </a:r>
            <a:r>
              <a:rPr lang="ru-RU" sz="1800" dirty="0" err="1"/>
              <a:t>визначення</a:t>
            </a:r>
            <a:r>
              <a:rPr lang="ru-RU" sz="1800" dirty="0"/>
              <a:t>: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ru-RU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ru-RU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5FA5A3-5E46-4B71-80FD-309BF3799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36118" y="1828800"/>
            <a:ext cx="5719762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042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Препроцесор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і </a:t>
            </a:r>
            <a:r>
              <a:rPr lang="ru-RU" sz="1800" dirty="0" err="1"/>
              <a:t>потім</a:t>
            </a:r>
            <a:r>
              <a:rPr lang="ru-RU" sz="1800" dirty="0"/>
              <a:t> </a:t>
            </a:r>
            <a:r>
              <a:rPr lang="ru-RU" sz="1800" dirty="0" err="1"/>
              <a:t>скрізь</a:t>
            </a:r>
            <a:r>
              <a:rPr lang="ru-RU" sz="1800" dirty="0"/>
              <a:t> </a:t>
            </a:r>
            <a:r>
              <a:rPr lang="ru-RU" sz="1800" dirty="0" err="1"/>
              <a:t>писати</a:t>
            </a:r>
            <a:r>
              <a:rPr lang="ru-RU" sz="1800" dirty="0"/>
              <a:t> </a:t>
            </a:r>
            <a:r>
              <a:rPr lang="ru-RU" sz="1800" dirty="0" err="1"/>
              <a:t>нескінченні</a:t>
            </a:r>
            <a:r>
              <a:rPr lang="ru-RU" sz="1800" dirty="0"/>
              <a:t> цикли у </a:t>
            </a:r>
            <a:r>
              <a:rPr lang="ru-RU" sz="1800" dirty="0" err="1"/>
              <a:t>вигляді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forever { &lt;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тіло циклу&gt; }</a:t>
            </a:r>
            <a:endParaRPr lang="en-US" sz="18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А </a:t>
            </a:r>
            <a:r>
              <a:rPr lang="ru-RU" sz="1800" dirty="0" err="1"/>
              <a:t>якщо</a:t>
            </a:r>
            <a:r>
              <a:rPr lang="ru-RU" sz="1800" dirty="0"/>
              <a:t> вам не </a:t>
            </a:r>
            <a:r>
              <a:rPr lang="ru-RU" sz="1800" dirty="0" err="1"/>
              <a:t>подобаються</a:t>
            </a:r>
            <a:r>
              <a:rPr lang="ru-RU" sz="1800" dirty="0"/>
              <a:t> </a:t>
            </a:r>
            <a:r>
              <a:rPr lang="ru-RU" sz="1800" dirty="0" err="1"/>
              <a:t>фігурні</a:t>
            </a:r>
            <a:r>
              <a:rPr lang="ru-RU" sz="1800" dirty="0"/>
              <a:t> дужки, то </a:t>
            </a:r>
            <a:r>
              <a:rPr lang="ru-RU" sz="1800" dirty="0" err="1"/>
              <a:t>визначте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і надалі використовуйте як операторні дужки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begin</a:t>
            </a:r>
            <a:r>
              <a:rPr lang="en-US" sz="1800" dirty="0"/>
              <a:t> </a:t>
            </a:r>
            <a:r>
              <a:rPr lang="uk-UA" sz="1800" dirty="0"/>
              <a:t>та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end</a:t>
            </a:r>
            <a:r>
              <a:rPr lang="en-US" sz="1800" dirty="0"/>
              <a:t>, </a:t>
            </a:r>
            <a:r>
              <a:rPr lang="uk-UA" sz="1800" dirty="0"/>
              <a:t>як це робиться, наприклад, у мові </a:t>
            </a:r>
            <a:r>
              <a:rPr lang="en-US" sz="1800" dirty="0"/>
              <a:t>Pascal</a:t>
            </a:r>
            <a:endParaRPr lang="uk-UA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833E14-0F6E-425C-93CB-192123437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710" y="857691"/>
            <a:ext cx="4554578" cy="95566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2ACF6B-34F2-4D54-B3B7-A6CF29CA6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131" y="3021105"/>
            <a:ext cx="5121738" cy="143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494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Препроцесор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 err="1"/>
              <a:t>Подібні</a:t>
            </a:r>
            <a:r>
              <a:rPr lang="ru-RU" sz="1800" dirty="0"/>
              <a:t> </a:t>
            </a:r>
            <a:r>
              <a:rPr lang="ru-RU" sz="1800" dirty="0" err="1"/>
              <a:t>визначення</a:t>
            </a:r>
            <a:r>
              <a:rPr lang="ru-RU" sz="1800" dirty="0"/>
              <a:t>, </a:t>
            </a:r>
            <a:r>
              <a:rPr lang="ru-RU" sz="1800" dirty="0" err="1"/>
              <a:t>які</a:t>
            </a:r>
            <a:r>
              <a:rPr lang="ru-RU" sz="1800" dirty="0"/>
              <a:t> </a:t>
            </a:r>
            <a:r>
              <a:rPr lang="ru-RU" sz="1800" dirty="0" err="1"/>
              <a:t>називаються</a:t>
            </a:r>
            <a:r>
              <a:rPr lang="ru-RU" sz="1800" dirty="0"/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макровизначеннями</a:t>
            </a:r>
            <a:r>
              <a:rPr lang="ru-RU" sz="1800" dirty="0"/>
              <a:t> (</a:t>
            </a:r>
            <a:r>
              <a:rPr lang="ru-RU" sz="1800" b="1" dirty="0">
                <a:highlight>
                  <a:srgbClr val="00FF00"/>
                </a:highlight>
              </a:rPr>
              <a:t>макросами</a:t>
            </a:r>
            <a:r>
              <a:rPr lang="ru-RU" sz="1800" dirty="0"/>
              <a:t>), </a:t>
            </a:r>
            <a:r>
              <a:rPr lang="ru-RU" sz="1800" dirty="0" err="1"/>
              <a:t>можуть</a:t>
            </a:r>
            <a:r>
              <a:rPr lang="ru-RU" sz="1800" dirty="0"/>
              <a:t> </a:t>
            </a:r>
            <a:r>
              <a:rPr lang="ru-RU" sz="1800" dirty="0" err="1"/>
              <a:t>мати</a:t>
            </a:r>
            <a:r>
              <a:rPr lang="ru-RU" sz="1800" dirty="0"/>
              <a:t> </a:t>
            </a:r>
            <a:r>
              <a:rPr lang="ru-RU" sz="1800" dirty="0" err="1"/>
              <a:t>параметри</a:t>
            </a:r>
            <a:r>
              <a:rPr lang="ru-RU" sz="1800" dirty="0"/>
              <a:t> (і </a:t>
            </a:r>
            <a:r>
              <a:rPr lang="ru-RU" sz="1800" dirty="0" err="1"/>
              <a:t>внаслідок</a:t>
            </a:r>
            <a:r>
              <a:rPr lang="ru-RU" sz="1800" dirty="0"/>
              <a:t> </a:t>
            </a:r>
            <a:r>
              <a:rPr lang="ru-RU" sz="1800" dirty="0" err="1"/>
              <a:t>цього</a:t>
            </a:r>
            <a:r>
              <a:rPr lang="ru-RU" sz="1800" dirty="0"/>
              <a:t> бути </a:t>
            </a:r>
            <a:r>
              <a:rPr lang="ru-RU" sz="1800" dirty="0" err="1"/>
              <a:t>ще</a:t>
            </a:r>
            <a:r>
              <a:rPr lang="ru-RU" sz="1800" dirty="0"/>
              <a:t> </a:t>
            </a:r>
            <a:r>
              <a:rPr lang="ru-RU" sz="1800" dirty="0" err="1"/>
              <a:t>більш</a:t>
            </a:r>
            <a:r>
              <a:rPr lang="ru-RU" sz="1800" dirty="0"/>
              <a:t> </a:t>
            </a:r>
            <a:r>
              <a:rPr lang="ru-RU" sz="1800" dirty="0" err="1"/>
              <a:t>потужними</a:t>
            </a:r>
            <a:r>
              <a:rPr lang="ru-RU" sz="1800" dirty="0"/>
              <a:t>), </a:t>
            </a:r>
            <a:r>
              <a:rPr lang="ru-RU" sz="1800" dirty="0" err="1"/>
              <a:t>однак</a:t>
            </a:r>
            <a:r>
              <a:rPr lang="ru-RU" sz="1800" dirty="0"/>
              <a:t> про </a:t>
            </a:r>
            <a:r>
              <a:rPr lang="ru-RU" sz="1800" dirty="0" err="1"/>
              <a:t>це</a:t>
            </a:r>
            <a:r>
              <a:rPr lang="ru-RU" sz="1800" dirty="0"/>
              <a:t> </a:t>
            </a:r>
            <a:r>
              <a:rPr lang="ru-RU" sz="1800" dirty="0" err="1"/>
              <a:t>трохи</a:t>
            </a:r>
            <a:r>
              <a:rPr lang="ru-RU" sz="1800" dirty="0"/>
              <a:t> </a:t>
            </a:r>
            <a:r>
              <a:rPr lang="ru-RU" sz="1800" dirty="0" err="1"/>
              <a:t>пізніше</a:t>
            </a:r>
            <a:r>
              <a:rPr lang="ru-RU" sz="1800" dirty="0"/>
              <a:t>. 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 err="1"/>
              <a:t>Ще</a:t>
            </a:r>
            <a:r>
              <a:rPr lang="ru-RU" sz="1800" dirty="0"/>
              <a:t> одна </a:t>
            </a:r>
            <a:r>
              <a:rPr lang="ru-RU" sz="1800" dirty="0" err="1"/>
              <a:t>важлива</a:t>
            </a:r>
            <a:r>
              <a:rPr lang="ru-RU" sz="1800" dirty="0"/>
              <a:t> </a:t>
            </a:r>
            <a:r>
              <a:rPr lang="ru-RU" sz="1800" dirty="0" err="1"/>
              <a:t>можливість</a:t>
            </a:r>
            <a:r>
              <a:rPr lang="ru-RU" sz="1800" dirty="0"/>
              <a:t> </a:t>
            </a:r>
            <a:r>
              <a:rPr lang="ru-RU" sz="1800" dirty="0" err="1"/>
              <a:t>препроцесора</a:t>
            </a:r>
            <a:r>
              <a:rPr lang="ru-RU" sz="1800" dirty="0"/>
              <a:t> — </a:t>
            </a:r>
            <a:r>
              <a:rPr lang="ru-RU" sz="1800" b="1" dirty="0" err="1">
                <a:highlight>
                  <a:srgbClr val="00FF00"/>
                </a:highlight>
              </a:rPr>
              <a:t>включення</a:t>
            </a:r>
            <a:r>
              <a:rPr lang="ru-RU" sz="1800" b="1" dirty="0">
                <a:highlight>
                  <a:srgbClr val="00FF00"/>
                </a:highlight>
              </a:rPr>
              <a:t> у </a:t>
            </a:r>
            <a:r>
              <a:rPr lang="ru-RU" sz="1800" b="1" dirty="0" err="1">
                <a:highlight>
                  <a:srgbClr val="00FF00"/>
                </a:highlight>
              </a:rPr>
              <a:t>вихідний</a:t>
            </a:r>
            <a:r>
              <a:rPr lang="ru-RU" sz="1800" b="1" dirty="0">
                <a:highlight>
                  <a:srgbClr val="00FF00"/>
                </a:highlight>
              </a:rPr>
              <a:t> текст </a:t>
            </a:r>
            <a:r>
              <a:rPr lang="ru-RU" sz="1800" b="1" dirty="0" err="1">
                <a:highlight>
                  <a:srgbClr val="00FF00"/>
                </a:highlight>
              </a:rPr>
              <a:t>вмісту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інших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файлів</a:t>
            </a:r>
            <a:r>
              <a:rPr lang="ru-RU" sz="1800" dirty="0"/>
              <a:t>. </a:t>
            </a:r>
            <a:r>
              <a:rPr lang="ru-RU" sz="1800" dirty="0" err="1"/>
              <a:t>Ця</a:t>
            </a:r>
            <a:r>
              <a:rPr lang="ru-RU" sz="1800" dirty="0"/>
              <a:t> </a:t>
            </a:r>
            <a:r>
              <a:rPr lang="ru-RU" sz="1800" dirty="0" err="1"/>
              <a:t>можливість</a:t>
            </a:r>
            <a:r>
              <a:rPr lang="ru-RU" sz="1800" dirty="0"/>
              <a:t> в основному </a:t>
            </a:r>
            <a:r>
              <a:rPr lang="ru-RU" sz="1800" dirty="0" err="1"/>
              <a:t>використовується</a:t>
            </a:r>
            <a:r>
              <a:rPr lang="ru-RU" sz="1800" dirty="0"/>
              <a:t> для того, </a:t>
            </a:r>
            <a:r>
              <a:rPr lang="ru-RU" sz="1800" dirty="0" err="1"/>
              <a:t>щоб</a:t>
            </a:r>
            <a:r>
              <a:rPr lang="ru-RU" sz="1800" dirty="0"/>
              <a:t> </a:t>
            </a:r>
            <a:r>
              <a:rPr lang="ru-RU" sz="1800" dirty="0" err="1"/>
              <a:t>постачати</a:t>
            </a:r>
            <a:r>
              <a:rPr lang="ru-RU" sz="1800" dirty="0"/>
              <a:t> </a:t>
            </a:r>
            <a:r>
              <a:rPr lang="ru-RU" sz="1800" dirty="0" err="1"/>
              <a:t>програми</a:t>
            </a:r>
            <a:r>
              <a:rPr lang="ru-RU" sz="1800" dirty="0"/>
              <a:t> </a:t>
            </a:r>
            <a:r>
              <a:rPr lang="ru-RU" sz="1800" dirty="0" err="1"/>
              <a:t>якимись</a:t>
            </a:r>
            <a:r>
              <a:rPr lang="ru-RU" sz="1800" dirty="0"/>
              <a:t> </a:t>
            </a:r>
            <a:r>
              <a:rPr lang="ru-RU" sz="1800" dirty="0" err="1"/>
              <a:t>загальними</a:t>
            </a:r>
            <a:r>
              <a:rPr lang="ru-RU" sz="1800" dirty="0"/>
              <a:t> для </a:t>
            </a:r>
            <a:r>
              <a:rPr lang="ru-RU" sz="1800" dirty="0" err="1"/>
              <a:t>всіх</a:t>
            </a:r>
            <a:r>
              <a:rPr lang="ru-RU" sz="1800" dirty="0"/>
              <a:t> </a:t>
            </a:r>
            <a:r>
              <a:rPr lang="ru-RU" sz="1800" dirty="0" err="1"/>
              <a:t>файлів</a:t>
            </a:r>
            <a:r>
              <a:rPr lang="ru-RU" sz="1800" dirty="0"/>
              <a:t> </a:t>
            </a:r>
            <a:r>
              <a:rPr lang="ru-RU" sz="1800" dirty="0" err="1"/>
              <a:t>визначеннями</a:t>
            </a:r>
            <a:r>
              <a:rPr lang="ru-RU" sz="1800" dirty="0"/>
              <a:t>. </a:t>
            </a:r>
            <a:r>
              <a:rPr lang="ru-RU" sz="1800" dirty="0" err="1"/>
              <a:t>Наприклад</a:t>
            </a:r>
            <a:r>
              <a:rPr lang="ru-RU" sz="1800" dirty="0"/>
              <a:t>, </a:t>
            </a:r>
            <a:r>
              <a:rPr lang="ru-RU" sz="1800" dirty="0" err="1"/>
              <a:t>надзвичайно</a:t>
            </a:r>
            <a:r>
              <a:rPr lang="ru-RU" sz="1800" dirty="0"/>
              <a:t> часто на початку </a:t>
            </a:r>
            <a:r>
              <a:rPr lang="ru-RU" sz="1800" dirty="0" err="1"/>
              <a:t>програми</a:t>
            </a:r>
            <a:r>
              <a:rPr lang="ru-RU" sz="1800" dirty="0"/>
              <a:t> на </a:t>
            </a:r>
            <a:r>
              <a:rPr lang="ru-RU" sz="1800" dirty="0" err="1"/>
              <a:t>мові</a:t>
            </a:r>
            <a:r>
              <a:rPr lang="ru-RU" sz="1800" dirty="0"/>
              <a:t> C++ </a:t>
            </a:r>
            <a:r>
              <a:rPr lang="ru-RU" sz="1800" dirty="0" err="1"/>
              <a:t>трапляється</a:t>
            </a:r>
            <a:r>
              <a:rPr lang="ru-RU" sz="1800" dirty="0"/>
              <a:t> добре </a:t>
            </a:r>
            <a:r>
              <a:rPr lang="ru-RU" sz="1800" dirty="0" err="1"/>
              <a:t>знайома</a:t>
            </a:r>
            <a:r>
              <a:rPr lang="ru-RU" sz="1800" dirty="0"/>
              <a:t> вам </a:t>
            </a:r>
            <a:r>
              <a:rPr lang="ru-RU" sz="1800" dirty="0" err="1"/>
              <a:t>препроцесорна</a:t>
            </a:r>
            <a:r>
              <a:rPr lang="ru-RU" sz="1800" dirty="0"/>
              <a:t> </a:t>
            </a:r>
            <a:r>
              <a:rPr lang="ru-RU" sz="1800" dirty="0" err="1"/>
              <a:t>конструкція</a:t>
            </a:r>
            <a:r>
              <a:rPr lang="ru-RU" sz="1800" dirty="0"/>
              <a:t>: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#include &lt;iostream&gt;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Коли </a:t>
            </a:r>
            <a:r>
              <a:rPr lang="ru-RU" sz="1800" dirty="0" err="1"/>
              <a:t>вихідний</a:t>
            </a:r>
            <a:r>
              <a:rPr lang="ru-RU" sz="1800" dirty="0"/>
              <a:t> текст </a:t>
            </a:r>
            <a:r>
              <a:rPr lang="ru-RU" sz="1800" dirty="0" err="1"/>
              <a:t>програми</a:t>
            </a:r>
            <a:r>
              <a:rPr lang="ru-RU" sz="1800" dirty="0"/>
              <a:t> </a:t>
            </a:r>
            <a:r>
              <a:rPr lang="ru-RU" sz="1800" dirty="0" err="1"/>
              <a:t>обробляється</a:t>
            </a:r>
            <a:r>
              <a:rPr lang="ru-RU" sz="1800" dirty="0"/>
              <a:t> </a:t>
            </a:r>
            <a:r>
              <a:rPr lang="ru-RU" sz="1800" dirty="0" err="1"/>
              <a:t>препроцесором</a:t>
            </a:r>
            <a:r>
              <a:rPr lang="ru-RU" sz="1800" dirty="0"/>
              <a:t>, </a:t>
            </a:r>
            <a:r>
              <a:rPr lang="ru-RU" sz="1800" b="1" dirty="0">
                <a:highlight>
                  <a:srgbClr val="00FF00"/>
                </a:highlight>
              </a:rPr>
              <a:t>на </a:t>
            </a:r>
            <a:r>
              <a:rPr lang="ru-RU" sz="1800" b="1" dirty="0" err="1">
                <a:highlight>
                  <a:srgbClr val="00FF00"/>
                </a:highlight>
              </a:rPr>
              <a:t>місце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цієї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інструкції</a:t>
            </a:r>
            <a:r>
              <a:rPr lang="ru-RU" sz="1800" b="1" dirty="0">
                <a:highlight>
                  <a:srgbClr val="00FF00"/>
                </a:highlight>
              </a:rPr>
              <a:t> ставиться </a:t>
            </a:r>
            <a:r>
              <a:rPr lang="ru-RU" sz="1800" b="1" dirty="0" err="1">
                <a:highlight>
                  <a:srgbClr val="00FF00"/>
                </a:highlight>
              </a:rPr>
              <a:t>вміст</a:t>
            </a:r>
            <a:r>
              <a:rPr lang="ru-RU" sz="1800" b="1" dirty="0">
                <a:highlight>
                  <a:srgbClr val="00FF00"/>
                </a:highlight>
              </a:rPr>
              <a:t> файлу </a:t>
            </a:r>
            <a:r>
              <a:rPr lang="ru-RU" sz="1800" b="1" dirty="0" err="1">
                <a:highlight>
                  <a:srgbClr val="00FF00"/>
                </a:highlight>
              </a:rPr>
              <a:t>iostream</a:t>
            </a:r>
            <a:r>
              <a:rPr lang="ru-RU" sz="1800" dirty="0"/>
              <a:t>, </a:t>
            </a:r>
            <a:r>
              <a:rPr lang="ru-RU" sz="1800" dirty="0" err="1"/>
              <a:t>що</a:t>
            </a:r>
            <a:r>
              <a:rPr lang="ru-RU" sz="1800" dirty="0"/>
              <a:t> </a:t>
            </a:r>
            <a:r>
              <a:rPr lang="ru-RU" sz="1800" dirty="0" err="1"/>
              <a:t>містить</a:t>
            </a:r>
            <a:r>
              <a:rPr lang="ru-RU" sz="1800" dirty="0"/>
              <a:t> </a:t>
            </a:r>
            <a:r>
              <a:rPr lang="ru-RU" sz="1800" dirty="0" err="1"/>
              <a:t>макровизначення</a:t>
            </a:r>
            <a:r>
              <a:rPr lang="ru-RU" sz="1800" dirty="0"/>
              <a:t> й </a:t>
            </a:r>
            <a:r>
              <a:rPr lang="ru-RU" sz="1800" dirty="0" err="1"/>
              <a:t>оголошення</a:t>
            </a:r>
            <a:r>
              <a:rPr lang="ru-RU" sz="1800" dirty="0"/>
              <a:t> </a:t>
            </a:r>
            <a:r>
              <a:rPr lang="ru-RU" sz="1800" dirty="0" err="1"/>
              <a:t>даних</a:t>
            </a:r>
            <a:r>
              <a:rPr lang="ru-RU" sz="1800" dirty="0"/>
              <a:t>, </a:t>
            </a:r>
            <a:r>
              <a:rPr lang="ru-RU" sz="1800" dirty="0" err="1"/>
              <a:t>необхідних</a:t>
            </a:r>
            <a:r>
              <a:rPr lang="ru-RU" sz="1800" dirty="0"/>
              <a:t> для </a:t>
            </a:r>
            <a:r>
              <a:rPr lang="ru-RU" sz="1800" dirty="0" err="1"/>
              <a:t>роботи</a:t>
            </a:r>
            <a:r>
              <a:rPr lang="ru-RU" sz="1800" dirty="0"/>
              <a:t> </a:t>
            </a:r>
            <a:r>
              <a:rPr lang="ru-RU" sz="1800" dirty="0" err="1"/>
              <a:t>потоків</a:t>
            </a:r>
            <a:r>
              <a:rPr lang="ru-RU" sz="1800" dirty="0"/>
              <a:t> вводу-</a:t>
            </a:r>
            <a:r>
              <a:rPr lang="ru-RU" sz="1800" dirty="0" err="1"/>
              <a:t>виводу</a:t>
            </a:r>
            <a:r>
              <a:rPr lang="ru-RU" sz="1800" dirty="0"/>
              <a:t>.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ru-RU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</p:txBody>
      </p:sp>
    </p:spTree>
    <p:extLst>
      <p:ext uri="{BB962C8B-B14F-4D97-AF65-F5344CB8AC3E}">
        <p14:creationId xmlns:p14="http://schemas.microsoft.com/office/powerpoint/2010/main" val="4165395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Препроцесор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b="1" dirty="0">
                <a:highlight>
                  <a:srgbClr val="00FF00"/>
                </a:highlight>
              </a:rPr>
              <a:t>Оператор (директива) препроцесора </a:t>
            </a:r>
            <a:r>
              <a:rPr lang="uk-UA" sz="1800" dirty="0"/>
              <a:t>— це один рядок вихідного тексту, що починається із символу 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uk-UA" sz="1800" dirty="0"/>
              <a:t>, за яким йдуть назва оператора (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define</a:t>
            </a:r>
            <a:r>
              <a:rPr lang="en-US" sz="1800" dirty="0"/>
              <a:t>,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pragma</a:t>
            </a:r>
            <a:r>
              <a:rPr lang="en-US" sz="1800" dirty="0"/>
              <a:t>,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include</a:t>
            </a:r>
            <a:r>
              <a:rPr lang="en-US" sz="1800" dirty="0"/>
              <a:t>,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/>
              <a:t>) </a:t>
            </a:r>
            <a:r>
              <a:rPr lang="uk-UA" sz="1800" dirty="0"/>
              <a:t>та операнди. Оператори препроцесора можуть з'являтися в будь-якому місці програми, і їхня дія поширюється на весь вихідний файл. </a:t>
            </a:r>
          </a:p>
        </p:txBody>
      </p:sp>
    </p:spTree>
    <p:extLst>
      <p:ext uri="{BB962C8B-B14F-4D97-AF65-F5344CB8AC3E}">
        <p14:creationId xmlns:p14="http://schemas.microsoft.com/office/powerpoint/2010/main" val="291213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Директива #</a:t>
            </a:r>
            <a:r>
              <a:rPr lang="en-US" b="1" dirty="0"/>
              <a:t>define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b="1" dirty="0">
                <a:highlight>
                  <a:srgbClr val="00FF00"/>
                </a:highlight>
              </a:rPr>
              <a:t>Директиву #</a:t>
            </a:r>
            <a:r>
              <a:rPr lang="en-US" sz="1800" b="1" dirty="0">
                <a:highlight>
                  <a:srgbClr val="00FF00"/>
                </a:highlight>
              </a:rPr>
              <a:t>define </a:t>
            </a:r>
            <a:r>
              <a:rPr lang="uk-UA" sz="1800" dirty="0"/>
              <a:t>можна використовувати для створення макросів. </a:t>
            </a:r>
            <a:r>
              <a:rPr lang="uk-UA" sz="1800" b="1" dirty="0">
                <a:highlight>
                  <a:srgbClr val="00FF00"/>
                </a:highlight>
              </a:rPr>
              <a:t>Макрос</a:t>
            </a:r>
            <a:r>
              <a:rPr lang="uk-UA" sz="1800" dirty="0"/>
              <a:t> — це правило, яке визначає конвертацію ідентифікатора у вказані дані.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Є два основних типи макросів: макроси-функції і макроси-об’єкти.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b="1" dirty="0">
                <a:highlight>
                  <a:srgbClr val="00FF00"/>
                </a:highlight>
              </a:rPr>
              <a:t>Макроси-функції</a:t>
            </a:r>
            <a:r>
              <a:rPr lang="uk-UA" sz="1800" dirty="0"/>
              <a:t> поводяться як функції і використовуються в тих же цілях. Ми не будемо зараз їх обговорювати, тому що їх використання, як правило, вважається небезпечним, і майже все, що вони можуть зробити, можна здійснити за допомогою простої (лінійної) функції.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b="1" dirty="0">
                <a:highlight>
                  <a:srgbClr val="00FF00"/>
                </a:highlight>
              </a:rPr>
              <a:t>Макроси-об’єкти</a:t>
            </a:r>
            <a:r>
              <a:rPr lang="uk-UA" sz="1800" dirty="0"/>
              <a:t> можна визначити одним з двох наступних способів: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define 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ідентифікатор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чи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define 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ідентифікатор </a:t>
            </a:r>
            <a:r>
              <a:rPr lang="uk-UA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текст_заміна</a:t>
            </a:r>
            <a:endParaRPr lang="uk-UA" sz="18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Перше визначення не має ніякого </a:t>
            </a:r>
            <a:r>
              <a:rPr lang="uk-UA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текст_заміна</a:t>
            </a:r>
            <a:r>
              <a:rPr lang="uk-UA" sz="1800" dirty="0"/>
              <a:t>, в той час як друге — має. Оскільки це директиви препроцесора (а не прості </a:t>
            </a:r>
            <a:r>
              <a:rPr lang="uk-UA" sz="1800" dirty="0" err="1"/>
              <a:t>стейтменти</a:t>
            </a:r>
            <a:r>
              <a:rPr lang="uk-UA" sz="1800" dirty="0"/>
              <a:t>), то </a:t>
            </a:r>
            <a:r>
              <a:rPr lang="uk-UA" sz="1800" b="1" dirty="0">
                <a:highlight>
                  <a:srgbClr val="FFFF00"/>
                </a:highlight>
              </a:rPr>
              <a:t>жодна з цих форм не закінчується крапкою з комою</a:t>
            </a:r>
            <a:r>
              <a:rPr lang="uk-UA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0492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Макроси-об’єкти з </a:t>
            </a:r>
            <a:r>
              <a:rPr lang="uk-UA" b="1" dirty="0" err="1"/>
              <a:t>текст_заміна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Коли препроцесор зустрічає </a:t>
            </a:r>
            <a:r>
              <a:rPr lang="uk-UA" sz="1800" b="1" dirty="0">
                <a:highlight>
                  <a:srgbClr val="00FF00"/>
                </a:highlight>
              </a:rPr>
              <a:t>макроси-об’єкти з </a:t>
            </a:r>
            <a:r>
              <a:rPr lang="uk-UA" sz="1800" b="1" dirty="0" err="1">
                <a:highlight>
                  <a:srgbClr val="00FF00"/>
                </a:highlight>
              </a:rPr>
              <a:t>текст_заміна</a:t>
            </a:r>
            <a:r>
              <a:rPr lang="uk-UA" sz="1800" dirty="0"/>
              <a:t>, то будь-яка подальша поява ідентифікатор замінюється на </a:t>
            </a:r>
            <a:r>
              <a:rPr lang="uk-UA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текст_заміна</a:t>
            </a:r>
            <a:r>
              <a:rPr lang="uk-UA" sz="1800" dirty="0"/>
              <a:t>. </a:t>
            </a:r>
            <a:r>
              <a:rPr lang="uk-UA" sz="1800" b="1" dirty="0">
                <a:highlight>
                  <a:srgbClr val="00FFFF"/>
                </a:highlight>
              </a:rPr>
              <a:t>Ідентифікатор зазвичай пишеться великими літерами з символами підкреслення замість пробілів</a:t>
            </a:r>
            <a:r>
              <a:rPr lang="uk-UA" sz="1800" dirty="0"/>
              <a:t>.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 err="1"/>
              <a:t>Препроцесор</a:t>
            </a:r>
            <a:r>
              <a:rPr lang="ru-RU" sz="1800" dirty="0"/>
              <a:t> </a:t>
            </a:r>
            <a:r>
              <a:rPr lang="ru-RU" sz="1800" dirty="0" err="1"/>
              <a:t>перетворить</a:t>
            </a:r>
            <a:r>
              <a:rPr lang="ru-RU" sz="1800" dirty="0"/>
              <a:t> </a:t>
            </a:r>
            <a:r>
              <a:rPr lang="ru-RU" sz="1800" dirty="0" err="1"/>
              <a:t>вищенаведений</a:t>
            </a:r>
            <a:r>
              <a:rPr lang="ru-RU" sz="1800" dirty="0"/>
              <a:t> код в: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b="1" dirty="0">
                <a:highlight>
                  <a:srgbClr val="FF0000"/>
                </a:highlight>
              </a:rPr>
              <a:t>так не варто робити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C20FA6A-A025-43C5-8FA7-2A727A630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725" y="2181347"/>
            <a:ext cx="7278549" cy="120401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ED9AB3D-6A0F-4CF6-B71D-3316BE049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622" y="3857845"/>
            <a:ext cx="6238754" cy="78023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15EECA7-7182-44DE-BE01-EEA7280C2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8470" y="4709014"/>
            <a:ext cx="2915057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18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Макроси-об’єкти без </a:t>
            </a:r>
            <a:r>
              <a:rPr lang="uk-UA" b="1" dirty="0" err="1"/>
              <a:t>текст_заміна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 err="1"/>
              <a:t>Макроси-об’єкти</a:t>
            </a:r>
            <a:r>
              <a:rPr lang="ru-RU" sz="1800" dirty="0"/>
              <a:t> </a:t>
            </a:r>
            <a:r>
              <a:rPr lang="ru-RU" sz="1800" dirty="0" err="1"/>
              <a:t>також</a:t>
            </a:r>
            <a:r>
              <a:rPr lang="ru-RU" sz="1800" dirty="0"/>
              <a:t> </a:t>
            </a:r>
            <a:r>
              <a:rPr lang="ru-RU" sz="1800" dirty="0" err="1"/>
              <a:t>можуть</a:t>
            </a:r>
            <a:r>
              <a:rPr lang="ru-RU" sz="1800" dirty="0"/>
              <a:t> бути </a:t>
            </a:r>
            <a:r>
              <a:rPr lang="ru-RU" sz="1800" dirty="0" err="1"/>
              <a:t>визначені</a:t>
            </a:r>
            <a:r>
              <a:rPr lang="ru-RU" sz="1800" dirty="0"/>
              <a:t> і </a:t>
            </a:r>
            <a:r>
              <a:rPr lang="ru-RU" sz="1800" b="1" dirty="0">
                <a:highlight>
                  <a:srgbClr val="00FF00"/>
                </a:highlight>
              </a:rPr>
              <a:t>без </a:t>
            </a:r>
            <a:r>
              <a:rPr lang="ru-RU" sz="1800" b="1" dirty="0" err="1">
                <a:highlight>
                  <a:srgbClr val="00FF00"/>
                </a:highlight>
              </a:rPr>
              <a:t>текст_заміна</a:t>
            </a:r>
            <a:r>
              <a:rPr lang="ru-RU" sz="1800" dirty="0"/>
              <a:t>. </a:t>
            </a:r>
            <a:r>
              <a:rPr lang="ru-RU" sz="1800" dirty="0" err="1"/>
              <a:t>Наприклад</a:t>
            </a:r>
            <a:r>
              <a:rPr lang="ru-RU" sz="1800" dirty="0"/>
              <a:t>: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Будь-яка подальше поява ідентифікатора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USE_YEN </a:t>
            </a:r>
            <a:r>
              <a:rPr lang="uk-UA" sz="1800" dirty="0"/>
              <a:t>видаляється і </a:t>
            </a:r>
            <a:r>
              <a:rPr lang="uk-UA" sz="1800" b="1" dirty="0">
                <a:highlight>
                  <a:srgbClr val="00FF00"/>
                </a:highlight>
              </a:rPr>
              <a:t>замінюється «нічим» </a:t>
            </a:r>
            <a:r>
              <a:rPr lang="uk-UA" sz="1800" dirty="0"/>
              <a:t>(порожнім місцем)!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Це може здатися досить даремним і не вартим використання, однак, це не основне призначення подібних директив. На відміну від макросів-об’єктів з </a:t>
            </a:r>
            <a:r>
              <a:rPr lang="uk-UA" sz="1800" dirty="0" err="1"/>
              <a:t>текст_заміна</a:t>
            </a:r>
            <a:r>
              <a:rPr lang="uk-UA" sz="1800" dirty="0"/>
              <a:t>, </a:t>
            </a:r>
            <a:r>
              <a:rPr lang="uk-UA" sz="1800" b="1" dirty="0">
                <a:highlight>
                  <a:srgbClr val="00FF00"/>
                </a:highlight>
              </a:rPr>
              <a:t>ця форма макросів вважається прийнятною для використання</a:t>
            </a:r>
            <a:r>
              <a:rPr lang="uk-UA" sz="1800"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A05C2F7-E2AB-4C90-AFC1-B7B33578E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733" y="1392549"/>
            <a:ext cx="4392533" cy="92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82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_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_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04C78E-E46B-4288-996A-7E34008A3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857" y="857691"/>
            <a:ext cx="5984284" cy="450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12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ru-RU" b="1" dirty="0" err="1"/>
              <a:t>Макроси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b="1" dirty="0">
                <a:highlight>
                  <a:srgbClr val="00FF00"/>
                </a:highlight>
              </a:rPr>
              <a:t>Примітка</a:t>
            </a:r>
            <a:r>
              <a:rPr lang="uk-UA" sz="1800" dirty="0"/>
              <a:t>. Текст усередині рядків, символьні константи та коментарі не підлягають заміні, тому що рядки й символьні константи є неподільними лексемами мови </a:t>
            </a:r>
            <a:r>
              <a:rPr lang="en-US" sz="1800" dirty="0"/>
              <a:t>C++. </a:t>
            </a:r>
            <a:r>
              <a:rPr lang="uk-UA" sz="1800" dirty="0"/>
              <a:t>Отже, після макровизначення</a:t>
            </a:r>
            <a:r>
              <a:rPr lang="en-US" sz="1800" dirty="0"/>
              <a:t>.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 err="1"/>
              <a:t>Заміни</a:t>
            </a:r>
            <a:r>
              <a:rPr lang="ru-RU" sz="1800" dirty="0"/>
              <a:t> в </a:t>
            </a:r>
            <a:r>
              <a:rPr lang="ru-RU" sz="1800" dirty="0" err="1"/>
              <a:t>тексті</a:t>
            </a:r>
            <a:r>
              <a:rPr lang="ru-RU" sz="1800" dirty="0"/>
              <a:t> </a:t>
            </a:r>
            <a:r>
              <a:rPr lang="ru-RU" sz="1800" dirty="0" err="1"/>
              <a:t>програми</a:t>
            </a:r>
            <a:r>
              <a:rPr lang="ru-RU" sz="1800" dirty="0"/>
              <a:t> </a:t>
            </a:r>
            <a:r>
              <a:rPr lang="ru-RU" sz="1800" dirty="0" err="1"/>
              <a:t>можна</a:t>
            </a:r>
            <a:r>
              <a:rPr lang="ru-RU" sz="1800" dirty="0"/>
              <a:t> </a:t>
            </a:r>
            <a:r>
              <a:rPr lang="ru-RU" sz="1800" dirty="0" err="1"/>
              <a:t>скасовувати</a:t>
            </a:r>
            <a:r>
              <a:rPr lang="ru-RU" sz="1800" dirty="0"/>
              <a:t> за </a:t>
            </a:r>
            <a:r>
              <a:rPr lang="ru-RU" sz="1800" dirty="0" err="1"/>
              <a:t>допомогою</a:t>
            </a:r>
            <a:r>
              <a:rPr lang="ru-RU" sz="1800" dirty="0"/>
              <a:t> </a:t>
            </a:r>
            <a:r>
              <a:rPr lang="ru-RU" sz="1800" dirty="0" err="1"/>
              <a:t>команди</a:t>
            </a:r>
            <a:r>
              <a:rPr lang="ru-RU" sz="1800" dirty="0"/>
              <a:t>: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 err="1"/>
              <a:t>Після</a:t>
            </a:r>
            <a:r>
              <a:rPr lang="ru-RU" sz="1800" dirty="0"/>
              <a:t> </a:t>
            </a:r>
            <a:r>
              <a:rPr lang="ru-RU" sz="1800" dirty="0" err="1"/>
              <a:t>виконання</a:t>
            </a:r>
            <a:r>
              <a:rPr lang="ru-RU" sz="1800" dirty="0"/>
              <a:t> </a:t>
            </a:r>
            <a:r>
              <a:rPr lang="ru-RU" sz="1800" dirty="0" err="1"/>
              <a:t>такої</a:t>
            </a:r>
            <a:r>
              <a:rPr lang="ru-RU" sz="1800" dirty="0"/>
              <a:t> </a:t>
            </a:r>
            <a:r>
              <a:rPr lang="ru-RU" sz="1800" dirty="0" err="1"/>
              <a:t>директиви</a:t>
            </a:r>
            <a:r>
              <a:rPr lang="ru-RU" sz="1800" dirty="0"/>
              <a:t> </a:t>
            </a:r>
            <a:r>
              <a:rPr lang="ru-RU" sz="1800" dirty="0" err="1"/>
              <a:t>ім'я</a:t>
            </a:r>
            <a:r>
              <a:rPr lang="ru-RU" sz="1800" dirty="0"/>
              <a:t> для </a:t>
            </a:r>
            <a:r>
              <a:rPr lang="ru-RU" sz="1800" dirty="0" err="1"/>
              <a:t>препроцесора</a:t>
            </a:r>
            <a:r>
              <a:rPr lang="ru-RU" sz="1800" dirty="0"/>
              <a:t> </a:t>
            </a:r>
            <a:r>
              <a:rPr lang="ru-RU" sz="1800" dirty="0" err="1"/>
              <a:t>стає</a:t>
            </a:r>
            <a:r>
              <a:rPr lang="ru-RU" sz="1800" dirty="0"/>
              <a:t> </a:t>
            </a:r>
            <a:r>
              <a:rPr lang="ru-RU" sz="1800" dirty="0" err="1"/>
              <a:t>визначеним</a:t>
            </a:r>
            <a:r>
              <a:rPr lang="ru-RU" sz="1800" dirty="0"/>
              <a:t>, і </a:t>
            </a:r>
            <a:r>
              <a:rPr lang="ru-RU" sz="1800" dirty="0" err="1"/>
              <a:t>його</a:t>
            </a:r>
            <a:r>
              <a:rPr lang="ru-RU" sz="1800" dirty="0"/>
              <a:t> </a:t>
            </a:r>
            <a:r>
              <a:rPr lang="ru-RU" sz="1800" dirty="0" err="1"/>
              <a:t>можна</a:t>
            </a:r>
            <a:r>
              <a:rPr lang="ru-RU" sz="1800" dirty="0"/>
              <a:t> </a:t>
            </a:r>
            <a:r>
              <a:rPr lang="ru-RU" sz="1800" dirty="0" err="1"/>
              <a:t>визначати</a:t>
            </a:r>
            <a:r>
              <a:rPr lang="ru-RU" sz="1800" dirty="0"/>
              <a:t> повторно. </a:t>
            </a:r>
            <a:r>
              <a:rPr lang="ru-RU" sz="1800" dirty="0" err="1"/>
              <a:t>Наприклад</a:t>
            </a:r>
            <a:r>
              <a:rPr lang="ru-RU" sz="1800" dirty="0"/>
              <a:t>, не </a:t>
            </a:r>
            <a:r>
              <a:rPr lang="ru-RU" sz="1800" dirty="0" err="1"/>
              <a:t>викличуть</a:t>
            </a:r>
            <a:r>
              <a:rPr lang="ru-RU" sz="1800" dirty="0"/>
              <a:t> </a:t>
            </a:r>
            <a:r>
              <a:rPr lang="ru-RU" sz="1800" dirty="0" err="1"/>
              <a:t>попереджувальних</a:t>
            </a:r>
            <a:r>
              <a:rPr lang="ru-RU" sz="1800" dirty="0"/>
              <a:t> </a:t>
            </a:r>
            <a:r>
              <a:rPr lang="ru-RU" sz="1800" dirty="0" err="1"/>
              <a:t>повідомлень</a:t>
            </a:r>
            <a:r>
              <a:rPr lang="ru-RU" sz="1800" dirty="0"/>
              <a:t> </a:t>
            </a:r>
            <a:r>
              <a:rPr lang="ru-RU" sz="1800" dirty="0" err="1"/>
              <a:t>директиви</a:t>
            </a:r>
            <a:endParaRPr lang="ru-RU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50FD3E-05D9-45F4-926B-54F8B6444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4413" y="1733491"/>
            <a:ext cx="5423174" cy="15021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719CC92-94E4-40C1-989B-F9FAED2B8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2149" y="3447059"/>
            <a:ext cx="1886213" cy="31436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0624632-EB29-45E0-8522-492ECEBF0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393" y="4693385"/>
            <a:ext cx="4265211" cy="208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558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ru-RU" b="1" dirty="0" err="1"/>
              <a:t>Макроси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 err="1"/>
              <a:t>Якщо</a:t>
            </a:r>
            <a:r>
              <a:rPr lang="ru-RU" sz="1800" dirty="0"/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рядок_лексем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виявляється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занадто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довгим</a:t>
            </a:r>
            <a:r>
              <a:rPr lang="ru-RU" sz="1800" b="1" dirty="0">
                <a:highlight>
                  <a:srgbClr val="00FF00"/>
                </a:highlight>
              </a:rPr>
              <a:t>, </a:t>
            </a:r>
            <a:r>
              <a:rPr lang="ru-RU" sz="1800" dirty="0"/>
              <a:t>то </a:t>
            </a:r>
            <a:r>
              <a:rPr lang="ru-RU" sz="1800" dirty="0" err="1"/>
              <a:t>його</a:t>
            </a:r>
            <a:r>
              <a:rPr lang="ru-RU" sz="1800" dirty="0"/>
              <a:t> </a:t>
            </a:r>
            <a:r>
              <a:rPr lang="ru-RU" sz="1800" dirty="0" err="1"/>
              <a:t>можна</a:t>
            </a:r>
            <a:r>
              <a:rPr lang="ru-RU" sz="1800" dirty="0"/>
              <a:t> </a:t>
            </a:r>
            <a:r>
              <a:rPr lang="ru-RU" sz="1800" dirty="0" err="1"/>
              <a:t>продовжити</a:t>
            </a:r>
            <a:r>
              <a:rPr lang="ru-RU" sz="1800" dirty="0"/>
              <a:t> в </a:t>
            </a:r>
            <a:r>
              <a:rPr lang="ru-RU" sz="1800" dirty="0" err="1"/>
              <a:t>наступному</a:t>
            </a:r>
            <a:r>
              <a:rPr lang="ru-RU" sz="1800" dirty="0"/>
              <a:t> рядку тексту </a:t>
            </a:r>
            <a:r>
              <a:rPr lang="ru-RU" sz="1800" dirty="0" err="1"/>
              <a:t>програми</a:t>
            </a:r>
            <a:r>
              <a:rPr lang="ru-RU" sz="1800" dirty="0"/>
              <a:t>. Для </a:t>
            </a:r>
            <a:r>
              <a:rPr lang="ru-RU" sz="1800" dirty="0" err="1"/>
              <a:t>цього</a:t>
            </a:r>
            <a:r>
              <a:rPr lang="ru-RU" sz="1800" dirty="0"/>
              <a:t> в </a:t>
            </a:r>
            <a:r>
              <a:rPr lang="ru-RU" sz="1800" dirty="0" err="1"/>
              <a:t>кінці</a:t>
            </a:r>
            <a:r>
              <a:rPr lang="ru-RU" sz="1800" dirty="0"/>
              <a:t> </a:t>
            </a:r>
            <a:r>
              <a:rPr lang="ru-RU" sz="1800" dirty="0" err="1"/>
              <a:t>продовжуваного</a:t>
            </a:r>
            <a:r>
              <a:rPr lang="ru-RU" sz="1800" dirty="0"/>
              <a:t> рядка </a:t>
            </a:r>
            <a:r>
              <a:rPr lang="ru-RU" sz="1800" dirty="0" err="1"/>
              <a:t>поміщується</a:t>
            </a:r>
            <a:r>
              <a:rPr lang="ru-RU" sz="1800" dirty="0"/>
              <a:t> символ «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\</a:t>
            </a:r>
            <a:r>
              <a:rPr lang="ru-RU" sz="1800" dirty="0"/>
              <a:t>». У </a:t>
            </a:r>
            <a:r>
              <a:rPr lang="ru-RU" sz="1800" dirty="0" err="1"/>
              <a:t>процесі</a:t>
            </a:r>
            <a:r>
              <a:rPr lang="ru-RU" sz="1800" dirty="0"/>
              <a:t> </a:t>
            </a:r>
            <a:r>
              <a:rPr lang="ru-RU" sz="1800" dirty="0" err="1"/>
              <a:t>однієї</a:t>
            </a:r>
            <a:r>
              <a:rPr lang="ru-RU" sz="1800" dirty="0"/>
              <a:t> </a:t>
            </a:r>
            <a:r>
              <a:rPr lang="ru-RU" sz="1800" dirty="0" err="1"/>
              <a:t>зі</a:t>
            </a:r>
            <a:r>
              <a:rPr lang="ru-RU" sz="1800" dirty="0"/>
              <a:t> </a:t>
            </a:r>
            <a:r>
              <a:rPr lang="ru-RU" sz="1800" dirty="0" err="1"/>
              <a:t>стадій</a:t>
            </a:r>
            <a:r>
              <a:rPr lang="ru-RU" sz="1800" dirty="0"/>
              <a:t> </a:t>
            </a:r>
            <a:r>
              <a:rPr lang="ru-RU" sz="1800" dirty="0" err="1"/>
              <a:t>препроцесорної</a:t>
            </a:r>
            <a:r>
              <a:rPr lang="ru-RU" sz="1800" dirty="0"/>
              <a:t> </a:t>
            </a:r>
            <a:r>
              <a:rPr lang="ru-RU" sz="1800" dirty="0" err="1"/>
              <a:t>обробки</a:t>
            </a:r>
            <a:r>
              <a:rPr lang="ru-RU" sz="1800" dirty="0"/>
              <a:t> </a:t>
            </a:r>
            <a:r>
              <a:rPr lang="ru-RU" sz="1800" dirty="0" err="1"/>
              <a:t>цей</a:t>
            </a:r>
            <a:r>
              <a:rPr lang="ru-RU" sz="1800" dirty="0"/>
              <a:t> символ, разом </a:t>
            </a:r>
            <a:r>
              <a:rPr lang="ru-RU" sz="1800" dirty="0" err="1"/>
              <a:t>із</a:t>
            </a:r>
            <a:r>
              <a:rPr lang="ru-RU" sz="1800" dirty="0"/>
              <a:t> </a:t>
            </a:r>
            <a:r>
              <a:rPr lang="ru-RU" sz="1800" dirty="0" err="1"/>
              <a:t>наступним</a:t>
            </a:r>
            <a:r>
              <a:rPr lang="ru-RU" sz="1800" dirty="0"/>
              <a:t> символом </a:t>
            </a:r>
            <a:r>
              <a:rPr lang="ru-RU" sz="1800" dirty="0" err="1"/>
              <a:t>кінця</a:t>
            </a:r>
            <a:r>
              <a:rPr lang="ru-RU" sz="1800" dirty="0"/>
              <a:t> рядка, буде </a:t>
            </a:r>
            <a:r>
              <a:rPr lang="ru-RU" sz="1800" dirty="0" err="1"/>
              <a:t>видалений</a:t>
            </a:r>
            <a:r>
              <a:rPr lang="ru-RU" sz="1800" dirty="0"/>
              <a:t> з </a:t>
            </a:r>
            <a:r>
              <a:rPr lang="ru-RU" sz="1800" dirty="0" err="1"/>
              <a:t>програми</a:t>
            </a:r>
            <a:r>
              <a:rPr lang="ru-RU" sz="1800" dirty="0"/>
              <a:t>. </a:t>
            </a:r>
            <a:r>
              <a:rPr lang="ru-RU" sz="1800" dirty="0" err="1"/>
              <a:t>Наприклад</a:t>
            </a:r>
            <a:r>
              <a:rPr lang="ru-RU" sz="1800" dirty="0"/>
              <a:t>: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50F909-0134-487D-A8E8-EA901D660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004" y="2378617"/>
            <a:ext cx="5005991" cy="210076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A04177-19CD-43D0-AB0A-4E878B696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468" y="3857845"/>
            <a:ext cx="1714739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870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ru-RU" b="1" dirty="0" err="1"/>
              <a:t>Макроси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 err="1"/>
              <a:t>Нагадуємо</a:t>
            </a:r>
            <a:r>
              <a:rPr lang="ru-RU" sz="1800" dirty="0"/>
              <a:t> вам, </a:t>
            </a:r>
            <a:r>
              <a:rPr lang="ru-RU" sz="1800" dirty="0" err="1"/>
              <a:t>що</a:t>
            </a:r>
            <a:r>
              <a:rPr lang="ru-RU" sz="1800" dirty="0"/>
              <a:t> за </a:t>
            </a:r>
            <a:r>
              <a:rPr lang="ru-RU" sz="1800" dirty="0" err="1"/>
              <a:t>допомогою</a:t>
            </a:r>
            <a:r>
              <a:rPr lang="ru-RU" sz="1800" dirty="0"/>
              <a:t> </a:t>
            </a:r>
            <a:r>
              <a:rPr lang="ru-RU" sz="1800" dirty="0" err="1"/>
              <a:t>директиви</a:t>
            </a:r>
            <a:r>
              <a:rPr lang="ru-RU" sz="1800" dirty="0"/>
              <a:t> #define ми з вами </a:t>
            </a:r>
            <a:r>
              <a:rPr lang="ru-RU" sz="1800" dirty="0" err="1"/>
              <a:t>також</a:t>
            </a:r>
            <a:r>
              <a:rPr lang="ru-RU" sz="1800" dirty="0"/>
              <a:t> </a:t>
            </a:r>
            <a:r>
              <a:rPr lang="ru-RU" sz="1800" dirty="0" err="1"/>
              <a:t>створювали</a:t>
            </a:r>
            <a:r>
              <a:rPr lang="ru-RU" sz="1800" dirty="0"/>
              <a:t> </a:t>
            </a:r>
            <a:r>
              <a:rPr lang="ru-RU" sz="1800" dirty="0" err="1"/>
              <a:t>макроси</a:t>
            </a:r>
            <a:r>
              <a:rPr lang="ru-RU" sz="1800" dirty="0"/>
              <a:t>, коли </a:t>
            </a:r>
            <a:r>
              <a:rPr lang="ru-RU" sz="1800" dirty="0" err="1"/>
              <a:t>вивчали</a:t>
            </a:r>
            <a:r>
              <a:rPr lang="ru-RU" sz="1800" dirty="0"/>
              <a:t> </a:t>
            </a:r>
            <a:r>
              <a:rPr lang="ru-RU" sz="1800" dirty="0" err="1"/>
              <a:t>вбудовування</a:t>
            </a:r>
            <a:r>
              <a:rPr lang="ru-RU" sz="1800" dirty="0"/>
              <a:t>. Приклад макросу з параметрами: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EDBB47-A45D-4FF8-B603-AC900ADBF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950" y="1838491"/>
            <a:ext cx="4548099" cy="159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66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Умовна компіляція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b="1" dirty="0">
                <a:highlight>
                  <a:srgbClr val="00FF00"/>
                </a:highlight>
              </a:rPr>
              <a:t>Директиви препроцесора умовної компіляції</a:t>
            </a:r>
            <a:r>
              <a:rPr lang="uk-UA" sz="1800" dirty="0"/>
              <a:t> дозволяють визначити, за яких умов код компілюватиметься, а при яких — ні. Ми розглянемо тільки три директиви умовної компіляції: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  #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ifdef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  #ifndef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  #endif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Директива 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ifdef </a:t>
            </a:r>
            <a:r>
              <a:rPr lang="en-US" sz="1800" dirty="0"/>
              <a:t>(</a:t>
            </a:r>
            <a:r>
              <a:rPr lang="uk-UA" sz="1800" dirty="0" err="1"/>
              <a:t>скор</a:t>
            </a:r>
            <a:r>
              <a:rPr lang="uk-UA" sz="1800" dirty="0"/>
              <a:t>. від “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if defined</a:t>
            </a:r>
            <a:r>
              <a:rPr lang="en-US" sz="1800" dirty="0"/>
              <a:t>” = “</a:t>
            </a:r>
            <a:r>
              <a:rPr lang="uk-UA" sz="1800" dirty="0"/>
              <a:t>якщо визначено”) дозволяє препроцесору перевірити, чи було значення раніше визначено за допомогою директиви 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define</a:t>
            </a:r>
            <a:r>
              <a:rPr lang="en-US" sz="1800" dirty="0"/>
              <a:t>. </a:t>
            </a:r>
            <a:r>
              <a:rPr lang="uk-UA" sz="1800" dirty="0"/>
              <a:t>Якщо так, то код між 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ifdef</a:t>
            </a:r>
            <a:r>
              <a:rPr lang="en-US" sz="1800" dirty="0"/>
              <a:t> </a:t>
            </a:r>
            <a:r>
              <a:rPr lang="uk-UA" sz="1800" dirty="0"/>
              <a:t>і 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endif </a:t>
            </a:r>
            <a:r>
              <a:rPr lang="uk-UA" sz="1800" dirty="0" err="1"/>
              <a:t>скомпілюється</a:t>
            </a:r>
            <a:r>
              <a:rPr lang="uk-UA" sz="1800" dirty="0"/>
              <a:t>. Якщо ні, то код буде проігнорований. Наприклад: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BF43C80-9CC9-4341-8166-ACD67CB51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85" y="4297347"/>
            <a:ext cx="3450230" cy="256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083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Умовна компіляція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Оскільки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PRINT_JOE </a:t>
            </a:r>
            <a:r>
              <a:rPr lang="uk-UA" sz="1800" dirty="0"/>
              <a:t>вже був визначений, то рядок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std::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&lt;&lt; "Joe" &lt;&lt; std::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; </a:t>
            </a:r>
            <a:r>
              <a:rPr lang="uk-UA" sz="1800" dirty="0" err="1"/>
              <a:t>скомпілюється</a:t>
            </a:r>
            <a:r>
              <a:rPr lang="uk-UA" sz="1800" dirty="0"/>
              <a:t> і виконається. А оскільки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PRINT_BOB </a:t>
            </a:r>
            <a:r>
              <a:rPr lang="uk-UA" sz="1800" dirty="0"/>
              <a:t>не був визначений, то рядок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std::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&lt;&lt; "Bob" &lt;&lt; std::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; </a:t>
            </a:r>
            <a:r>
              <a:rPr lang="uk-UA" sz="1800" dirty="0"/>
              <a:t>не </a:t>
            </a:r>
            <a:r>
              <a:rPr lang="uk-UA" sz="1800" dirty="0" err="1"/>
              <a:t>скомпілюється</a:t>
            </a:r>
            <a:r>
              <a:rPr lang="uk-UA" sz="1800" dirty="0"/>
              <a:t> і, відповідно, не виконається.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Директива 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#ifndef </a:t>
            </a:r>
            <a:r>
              <a:rPr lang="ru-RU" sz="1800" dirty="0"/>
              <a:t>(скор. </a:t>
            </a:r>
            <a:r>
              <a:rPr lang="ru-RU" sz="1800" dirty="0" err="1"/>
              <a:t>від</a:t>
            </a:r>
            <a:r>
              <a:rPr lang="ru-RU" sz="1800" dirty="0"/>
              <a:t> “</a:t>
            </a:r>
            <a:r>
              <a:rPr lang="ru-RU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not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defined</a:t>
            </a:r>
            <a:r>
              <a:rPr lang="ru-RU" sz="1800" dirty="0"/>
              <a:t>” = “</a:t>
            </a:r>
            <a:r>
              <a:rPr lang="ru-RU" sz="1800" dirty="0" err="1"/>
              <a:t>якщо</a:t>
            </a:r>
            <a:r>
              <a:rPr lang="ru-RU" sz="1800" dirty="0"/>
              <a:t> не </a:t>
            </a:r>
            <a:r>
              <a:rPr lang="ru-RU" sz="1800" dirty="0" err="1"/>
              <a:t>визначено</a:t>
            </a:r>
            <a:r>
              <a:rPr lang="ru-RU" sz="1800" dirty="0"/>
              <a:t>”) — </a:t>
            </a:r>
            <a:r>
              <a:rPr lang="ru-RU" sz="1800" dirty="0" err="1"/>
              <a:t>це</a:t>
            </a:r>
            <a:r>
              <a:rPr lang="ru-RU" sz="1800" dirty="0"/>
              <a:t> </a:t>
            </a:r>
            <a:r>
              <a:rPr lang="ru-RU" sz="1800" dirty="0" err="1"/>
              <a:t>повна</a:t>
            </a:r>
            <a:r>
              <a:rPr lang="ru-RU" sz="1800" dirty="0"/>
              <a:t> </a:t>
            </a:r>
            <a:r>
              <a:rPr lang="ru-RU" sz="1800" dirty="0" err="1"/>
              <a:t>протилежність</a:t>
            </a:r>
            <a:r>
              <a:rPr lang="ru-RU" sz="1800" dirty="0"/>
              <a:t> 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#ifdef</a:t>
            </a:r>
            <a:r>
              <a:rPr lang="ru-RU" sz="1800" dirty="0"/>
              <a:t>, яка </a:t>
            </a:r>
            <a:r>
              <a:rPr lang="ru-RU" sz="1800" dirty="0" err="1"/>
              <a:t>дозволяє</a:t>
            </a:r>
            <a:r>
              <a:rPr lang="ru-RU" sz="1800" dirty="0"/>
              <a:t> </a:t>
            </a:r>
            <a:r>
              <a:rPr lang="ru-RU" sz="1800" dirty="0" err="1"/>
              <a:t>перевірити</a:t>
            </a:r>
            <a:r>
              <a:rPr lang="ru-RU" sz="1800" dirty="0"/>
              <a:t>, </a:t>
            </a:r>
            <a:r>
              <a:rPr lang="ru-RU" sz="1800" dirty="0" err="1"/>
              <a:t>чи</a:t>
            </a:r>
            <a:r>
              <a:rPr lang="ru-RU" sz="1800" dirty="0"/>
              <a:t> не </a:t>
            </a:r>
            <a:r>
              <a:rPr lang="ru-RU" sz="1800" dirty="0" err="1"/>
              <a:t>було</a:t>
            </a:r>
            <a:r>
              <a:rPr lang="ru-RU" sz="1800" dirty="0"/>
              <a:t> </a:t>
            </a:r>
            <a:r>
              <a:rPr lang="ru-RU" sz="1800" dirty="0" err="1"/>
              <a:t>значення</a:t>
            </a:r>
            <a:r>
              <a:rPr lang="ru-RU" sz="1800" dirty="0"/>
              <a:t> </a:t>
            </a:r>
            <a:r>
              <a:rPr lang="ru-RU" sz="1800" dirty="0" err="1"/>
              <a:t>раніше</a:t>
            </a:r>
            <a:r>
              <a:rPr lang="ru-RU" sz="1800" dirty="0"/>
              <a:t> </a:t>
            </a:r>
            <a:r>
              <a:rPr lang="ru-RU" sz="1800" dirty="0" err="1"/>
              <a:t>визначено</a:t>
            </a:r>
            <a:r>
              <a:rPr lang="ru-RU" sz="1800" dirty="0"/>
              <a:t>. </a:t>
            </a:r>
            <a:r>
              <a:rPr lang="ru-RU" sz="1800" dirty="0" err="1"/>
              <a:t>Наприклад</a:t>
            </a:r>
            <a:r>
              <a:rPr lang="ru-RU" sz="1800" dirty="0"/>
              <a:t>: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Результатом </a:t>
            </a:r>
            <a:r>
              <a:rPr lang="ru-RU" sz="1800" dirty="0" err="1"/>
              <a:t>виконання</a:t>
            </a:r>
            <a:r>
              <a:rPr lang="ru-RU" sz="1800" dirty="0"/>
              <a:t> </a:t>
            </a:r>
            <a:r>
              <a:rPr lang="ru-RU" sz="1800" dirty="0" err="1"/>
              <a:t>цього</a:t>
            </a:r>
            <a:r>
              <a:rPr lang="ru-RU" sz="1800" dirty="0"/>
              <a:t> фрагменту коду буде </a:t>
            </a:r>
            <a:r>
              <a:rPr lang="ru-RU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Bob</a:t>
            </a:r>
            <a:r>
              <a:rPr lang="ru-RU" sz="1800" dirty="0"/>
              <a:t>, тому </a:t>
            </a:r>
            <a:r>
              <a:rPr lang="ru-RU" sz="1800" dirty="0" err="1"/>
              <a:t>що</a:t>
            </a:r>
            <a:r>
              <a:rPr lang="ru-RU" sz="1800" dirty="0"/>
              <a:t> 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PRINT_BOB</a:t>
            </a:r>
            <a:r>
              <a:rPr lang="ru-RU" sz="1800" dirty="0"/>
              <a:t> </a:t>
            </a:r>
            <a:r>
              <a:rPr lang="ru-RU" sz="1800" dirty="0" err="1"/>
              <a:t>раніше</a:t>
            </a:r>
            <a:r>
              <a:rPr lang="ru-RU" sz="1800" dirty="0"/>
              <a:t> </a:t>
            </a:r>
            <a:r>
              <a:rPr lang="ru-RU" sz="1800" dirty="0" err="1"/>
              <a:t>ніколи</a:t>
            </a:r>
            <a:r>
              <a:rPr lang="ru-RU" sz="1800" dirty="0"/>
              <a:t> не </a:t>
            </a:r>
            <a:r>
              <a:rPr lang="ru-RU" sz="1800" dirty="0" err="1"/>
              <a:t>був</a:t>
            </a:r>
            <a:r>
              <a:rPr lang="ru-RU" sz="1800" dirty="0"/>
              <a:t> </a:t>
            </a:r>
            <a:r>
              <a:rPr lang="ru-RU" sz="1800" dirty="0" err="1"/>
              <a:t>визначений</a:t>
            </a:r>
            <a:r>
              <a:rPr lang="ru-RU" sz="1800" dirty="0"/>
              <a:t>. </a:t>
            </a:r>
            <a:r>
              <a:rPr lang="ru-RU" sz="1800" b="1" dirty="0" err="1">
                <a:highlight>
                  <a:srgbClr val="00FF00"/>
                </a:highlight>
              </a:rPr>
              <a:t>Умовна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компіляція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дуже</a:t>
            </a:r>
            <a:r>
              <a:rPr lang="ru-RU" sz="1800" b="1" dirty="0">
                <a:highlight>
                  <a:srgbClr val="00FF00"/>
                </a:highlight>
              </a:rPr>
              <a:t> часто </a:t>
            </a:r>
            <a:r>
              <a:rPr lang="ru-RU" sz="1800" b="1" dirty="0" err="1">
                <a:highlight>
                  <a:srgbClr val="00FF00"/>
                </a:highlight>
              </a:rPr>
              <a:t>використовується</a:t>
            </a:r>
            <a:r>
              <a:rPr lang="ru-RU" sz="1800" b="1" dirty="0">
                <a:highlight>
                  <a:srgbClr val="00FF00"/>
                </a:highlight>
              </a:rPr>
              <a:t> в </a:t>
            </a:r>
            <a:r>
              <a:rPr lang="ru-RU" sz="1800" b="1" dirty="0" err="1">
                <a:highlight>
                  <a:srgbClr val="00FF00"/>
                </a:highlight>
              </a:rPr>
              <a:t>якості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header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guards</a:t>
            </a:r>
            <a:endParaRPr lang="uk-UA" sz="1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E4456CB-58F1-4FA6-924D-4FAAF6297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562" y="3429000"/>
            <a:ext cx="4348876" cy="146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8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Умовна компіляція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#if &lt;</a:t>
            </a:r>
            <a:r>
              <a:rPr lang="uk-UA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константний_вираз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else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#elif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#if </a:t>
            </a:r>
            <a:r>
              <a:rPr lang="uk-UA" sz="1800" dirty="0"/>
              <a:t>перевіряється значення константного </a:t>
            </a:r>
            <a:r>
              <a:rPr lang="uk-UA" sz="1800" dirty="0" err="1"/>
              <a:t>цілочисельного</a:t>
            </a:r>
            <a:r>
              <a:rPr lang="uk-UA" sz="1800" dirty="0"/>
              <a:t> виразу. Якщо він відмінний від нуля, то вважається, що умова, що перевіряється, є істинною. Наприклад, у результаті виконання директив: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b="1" dirty="0"/>
              <a:t>текст_1 </a:t>
            </a:r>
            <a:r>
              <a:rPr lang="ru-RU" sz="1800" dirty="0" err="1"/>
              <a:t>завжди</a:t>
            </a:r>
            <a:r>
              <a:rPr lang="ru-RU" sz="1800" dirty="0"/>
              <a:t> буде включений у </a:t>
            </a:r>
            <a:r>
              <a:rPr lang="ru-RU" sz="1800" dirty="0" err="1"/>
              <a:t>компільовану</a:t>
            </a:r>
            <a:r>
              <a:rPr lang="ru-RU" sz="1800" dirty="0"/>
              <a:t> </a:t>
            </a:r>
            <a:r>
              <a:rPr lang="ru-RU" sz="1800" dirty="0" err="1"/>
              <a:t>програму</a:t>
            </a:r>
            <a:r>
              <a:rPr lang="ru-RU" sz="1800" dirty="0"/>
              <a:t>.</a:t>
            </a:r>
            <a:endParaRPr lang="uk-UA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88C287-B4D1-45BA-A3DD-96F27BB60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933" y="3413994"/>
            <a:ext cx="3478133" cy="121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_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_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EFEC25-BAFC-4DB9-A953-5BD9C2A3C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927" y="0"/>
            <a:ext cx="4582144" cy="302637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A484AE-2C3A-419D-BFCD-BF1C9A39C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138" y="3173431"/>
            <a:ext cx="3521722" cy="353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07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_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_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0AE031-C51D-4E0C-9ED8-9021656F9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660" y="0"/>
            <a:ext cx="43406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61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Область видимості директиви #</a:t>
            </a:r>
            <a:r>
              <a:rPr lang="en-US" b="1" dirty="0"/>
              <a:t>define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b="1" dirty="0" err="1">
                <a:highlight>
                  <a:srgbClr val="00FF00"/>
                </a:highlight>
              </a:rPr>
              <a:t>Директиви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виконуються</a:t>
            </a:r>
            <a:r>
              <a:rPr lang="ru-RU" sz="1800" b="1" dirty="0">
                <a:highlight>
                  <a:srgbClr val="00FF00"/>
                </a:highlight>
              </a:rPr>
              <a:t> перед </a:t>
            </a:r>
            <a:r>
              <a:rPr lang="ru-RU" sz="1800" b="1" dirty="0" err="1">
                <a:highlight>
                  <a:srgbClr val="00FF00"/>
                </a:highlight>
              </a:rPr>
              <a:t>компіляцією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програми</a:t>
            </a:r>
            <a:r>
              <a:rPr lang="ru-RU" sz="1800" b="1" dirty="0">
                <a:highlight>
                  <a:srgbClr val="00FF00"/>
                </a:highlight>
              </a:rPr>
              <a:t>: </a:t>
            </a:r>
            <a:r>
              <a:rPr lang="ru-RU" sz="1800" b="1" dirty="0" err="1">
                <a:highlight>
                  <a:srgbClr val="00FF00"/>
                </a:highlight>
              </a:rPr>
              <a:t>зверху</a:t>
            </a:r>
            <a:r>
              <a:rPr lang="ru-RU" sz="1800" b="1" dirty="0">
                <a:highlight>
                  <a:srgbClr val="00FF00"/>
                </a:highlight>
              </a:rPr>
              <a:t> вниз, файл за файлом</a:t>
            </a:r>
            <a:r>
              <a:rPr lang="ru-RU" sz="1800" dirty="0"/>
              <a:t>. 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 err="1"/>
              <a:t>Незважаючи</a:t>
            </a:r>
            <a:r>
              <a:rPr lang="ru-RU" sz="1800" dirty="0"/>
              <a:t> на те, </a:t>
            </a:r>
            <a:r>
              <a:rPr lang="ru-RU" sz="1800" dirty="0" err="1"/>
              <a:t>що</a:t>
            </a:r>
            <a:r>
              <a:rPr lang="ru-RU" sz="1800" dirty="0"/>
              <a:t> директива 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define MY_NAME "Alex" </a:t>
            </a:r>
            <a:r>
              <a:rPr lang="ru-RU" sz="1800" dirty="0" err="1"/>
              <a:t>визначена</a:t>
            </a:r>
            <a:r>
              <a:rPr lang="ru-RU" sz="1800" dirty="0"/>
              <a:t> </a:t>
            </a:r>
            <a:r>
              <a:rPr lang="ru-RU" sz="1800" dirty="0" err="1"/>
              <a:t>всередині</a:t>
            </a:r>
            <a:r>
              <a:rPr lang="ru-RU" sz="1800" dirty="0"/>
              <a:t> </a:t>
            </a:r>
            <a:r>
              <a:rPr lang="ru-RU" sz="1800" dirty="0" err="1"/>
              <a:t>функції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boo()</a:t>
            </a:r>
            <a:r>
              <a:rPr lang="en-US" sz="1800" dirty="0"/>
              <a:t>, </a:t>
            </a:r>
            <a:r>
              <a:rPr lang="ru-RU" sz="1800" dirty="0" err="1"/>
              <a:t>препроцесор</a:t>
            </a:r>
            <a:r>
              <a:rPr lang="ru-RU" sz="1800" dirty="0"/>
              <a:t> </a:t>
            </a:r>
            <a:r>
              <a:rPr lang="ru-RU" sz="1800" dirty="0" err="1"/>
              <a:t>цього</a:t>
            </a:r>
            <a:r>
              <a:rPr lang="ru-RU" sz="1800" dirty="0"/>
              <a:t> не </a:t>
            </a:r>
            <a:r>
              <a:rPr lang="ru-RU" sz="1800" dirty="0" err="1"/>
              <a:t>помітить</a:t>
            </a:r>
            <a:r>
              <a:rPr lang="ru-RU" sz="1800" dirty="0"/>
              <a:t>, тому </a:t>
            </a:r>
            <a:r>
              <a:rPr lang="ru-RU" sz="1800" dirty="0" err="1"/>
              <a:t>що</a:t>
            </a:r>
            <a:r>
              <a:rPr lang="ru-RU" sz="1800" dirty="0"/>
              <a:t> </a:t>
            </a:r>
            <a:r>
              <a:rPr lang="ru-RU" sz="1800" dirty="0" err="1"/>
              <a:t>він</a:t>
            </a:r>
            <a:r>
              <a:rPr lang="ru-RU" sz="1800" dirty="0"/>
              <a:t> не </a:t>
            </a:r>
            <a:r>
              <a:rPr lang="ru-RU" sz="1800" dirty="0" err="1"/>
              <a:t>розуміє</a:t>
            </a:r>
            <a:r>
              <a:rPr lang="ru-RU" sz="1800" dirty="0"/>
              <a:t> </a:t>
            </a:r>
            <a:r>
              <a:rPr lang="ru-RU" sz="1800" dirty="0" err="1"/>
              <a:t>такі</a:t>
            </a:r>
            <a:r>
              <a:rPr lang="ru-RU" sz="1800" dirty="0"/>
              <a:t> </a:t>
            </a:r>
            <a:r>
              <a:rPr lang="ru-RU" sz="1800" dirty="0" err="1"/>
              <a:t>поняття</a:t>
            </a:r>
            <a:r>
              <a:rPr lang="ru-RU" sz="1800" dirty="0"/>
              <a:t> </a:t>
            </a:r>
            <a:r>
              <a:rPr lang="ru-RU" sz="1800" dirty="0" err="1"/>
              <a:t>мови</a:t>
            </a:r>
            <a:r>
              <a:rPr lang="ru-RU" sz="1800" dirty="0"/>
              <a:t> </a:t>
            </a:r>
            <a:r>
              <a:rPr lang="en-US" sz="1800" dirty="0"/>
              <a:t>C++, </a:t>
            </a:r>
            <a:r>
              <a:rPr lang="ru-RU" sz="1800" dirty="0"/>
              <a:t>як </a:t>
            </a:r>
            <a:r>
              <a:rPr lang="ru-RU" sz="1800" dirty="0" err="1"/>
              <a:t>функції</a:t>
            </a:r>
            <a:r>
              <a:rPr lang="ru-RU" sz="1800" dirty="0"/>
              <a:t>. </a:t>
            </a:r>
            <a:r>
              <a:rPr lang="ru-RU" sz="1800" dirty="0" err="1"/>
              <a:t>Отже</a:t>
            </a:r>
            <a:r>
              <a:rPr lang="ru-RU" sz="1800" dirty="0"/>
              <a:t>, </a:t>
            </a:r>
            <a:r>
              <a:rPr lang="ru-RU" sz="1800" dirty="0" err="1"/>
              <a:t>виконання</a:t>
            </a:r>
            <a:r>
              <a:rPr lang="ru-RU" sz="1800" dirty="0"/>
              <a:t> </a:t>
            </a:r>
            <a:r>
              <a:rPr lang="ru-RU" sz="1800" dirty="0" err="1"/>
              <a:t>цієї</a:t>
            </a:r>
            <a:r>
              <a:rPr lang="ru-RU" sz="1800" dirty="0"/>
              <a:t> </a:t>
            </a:r>
            <a:r>
              <a:rPr lang="ru-RU" sz="1800" dirty="0" err="1"/>
              <a:t>програми</a:t>
            </a:r>
            <a:r>
              <a:rPr lang="ru-RU" sz="1800" dirty="0"/>
              <a:t> буде </a:t>
            </a:r>
            <a:r>
              <a:rPr lang="ru-RU" sz="1800" dirty="0" err="1"/>
              <a:t>ідентично</a:t>
            </a:r>
            <a:r>
              <a:rPr lang="ru-RU" sz="1800" dirty="0"/>
              <a:t> </a:t>
            </a:r>
            <a:r>
              <a:rPr lang="ru-RU" sz="1800" dirty="0" err="1"/>
              <a:t>тій</a:t>
            </a:r>
            <a:r>
              <a:rPr lang="ru-RU" sz="1800" dirty="0"/>
              <a:t>, в </a:t>
            </a:r>
            <a:r>
              <a:rPr lang="ru-RU" sz="1800" dirty="0" err="1"/>
              <a:t>якій</a:t>
            </a:r>
            <a:r>
              <a:rPr lang="ru-RU" sz="1800" dirty="0"/>
              <a:t> би 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define MY_NAME "Alex"</a:t>
            </a:r>
            <a:r>
              <a:rPr lang="en-US" sz="1800" dirty="0"/>
              <a:t> </a:t>
            </a:r>
            <a:r>
              <a:rPr lang="ru-RU" sz="1800" dirty="0" err="1"/>
              <a:t>було</a:t>
            </a:r>
            <a:r>
              <a:rPr lang="ru-RU" sz="1800" dirty="0"/>
              <a:t> </a:t>
            </a:r>
            <a:r>
              <a:rPr lang="ru-RU" sz="1800" dirty="0" err="1"/>
              <a:t>визначено</a:t>
            </a:r>
            <a:r>
              <a:rPr lang="ru-RU" sz="1800" dirty="0"/>
              <a:t> ДО, </a:t>
            </a:r>
            <a:r>
              <a:rPr lang="ru-RU" sz="1800" dirty="0" err="1"/>
              <a:t>або</a:t>
            </a:r>
            <a:r>
              <a:rPr lang="ru-RU" sz="1800" dirty="0"/>
              <a:t> </a:t>
            </a:r>
            <a:r>
              <a:rPr lang="ru-RU" sz="1800" dirty="0" err="1"/>
              <a:t>відразу</a:t>
            </a:r>
            <a:r>
              <a:rPr lang="ru-RU" sz="1800" dirty="0"/>
              <a:t> ПІСЛЯ </a:t>
            </a:r>
            <a:r>
              <a:rPr lang="ru-RU" sz="1800" dirty="0" err="1"/>
              <a:t>функції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boo()</a:t>
            </a:r>
            <a:r>
              <a:rPr lang="en-US" sz="1800" dirty="0"/>
              <a:t>. </a:t>
            </a:r>
            <a:r>
              <a:rPr lang="ru-RU" sz="1800" dirty="0"/>
              <a:t>Для </a:t>
            </a:r>
            <a:r>
              <a:rPr lang="ru-RU" sz="1800" dirty="0" err="1"/>
              <a:t>кращої</a:t>
            </a:r>
            <a:r>
              <a:rPr lang="ru-RU" sz="1800" dirty="0"/>
              <a:t> </a:t>
            </a:r>
            <a:r>
              <a:rPr lang="ru-RU" sz="1800" dirty="0" err="1"/>
              <a:t>читабельності</a:t>
            </a:r>
            <a:r>
              <a:rPr lang="ru-RU" sz="1800" dirty="0"/>
              <a:t> коду </a:t>
            </a:r>
            <a:r>
              <a:rPr lang="ru-RU" sz="1800" dirty="0" err="1"/>
              <a:t>визначайте</a:t>
            </a:r>
            <a:r>
              <a:rPr lang="ru-RU" sz="1800" dirty="0"/>
              <a:t> </a:t>
            </a:r>
            <a:r>
              <a:rPr lang="ru-RU" sz="1800" dirty="0" err="1"/>
              <a:t>ідентифікатори</a:t>
            </a:r>
            <a:r>
              <a:rPr lang="ru-RU" sz="1800" dirty="0"/>
              <a:t> (за </a:t>
            </a:r>
            <a:r>
              <a:rPr lang="ru-RU" sz="1800" dirty="0" err="1"/>
              <a:t>допомогою</a:t>
            </a:r>
            <a:r>
              <a:rPr lang="ru-RU" sz="1800" dirty="0"/>
              <a:t> </a:t>
            </a:r>
            <a:r>
              <a:rPr lang="ru-RU" sz="1800" dirty="0" err="1"/>
              <a:t>директиви</a:t>
            </a:r>
            <a:r>
              <a:rPr lang="ru-RU" sz="1800" dirty="0"/>
              <a:t> 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define</a:t>
            </a:r>
            <a:r>
              <a:rPr lang="en-US" sz="1800" dirty="0"/>
              <a:t>) </a:t>
            </a:r>
            <a:r>
              <a:rPr lang="ru-RU" sz="1800" dirty="0"/>
              <a:t>поза </a:t>
            </a:r>
            <a:r>
              <a:rPr lang="ru-RU" sz="1800" dirty="0" err="1"/>
              <a:t>функцій</a:t>
            </a:r>
            <a:r>
              <a:rPr lang="ru-RU" sz="1800" dirty="0"/>
              <a:t>.</a:t>
            </a:r>
            <a:endParaRPr lang="uk-UA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FC9A00-2140-45B7-A25D-A26886E90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040" y="1419014"/>
            <a:ext cx="3657920" cy="296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215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Область видимості директиви #</a:t>
            </a:r>
            <a:r>
              <a:rPr lang="en-US" b="1" dirty="0"/>
              <a:t>define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b="1" dirty="0">
                <a:highlight>
                  <a:srgbClr val="00FF00"/>
                </a:highlight>
              </a:rPr>
              <a:t>Після того, як препроцесор завершить своє виконання, всі ідентифікатори (визначені з допомогою директиви #</a:t>
            </a:r>
            <a:r>
              <a:rPr lang="en-US" sz="1800" b="1" dirty="0">
                <a:highlight>
                  <a:srgbClr val="00FF00"/>
                </a:highlight>
              </a:rPr>
              <a:t>define) </a:t>
            </a:r>
            <a:r>
              <a:rPr lang="uk-UA" sz="1800" b="1" dirty="0">
                <a:highlight>
                  <a:srgbClr val="00FF00"/>
                </a:highlight>
              </a:rPr>
              <a:t>з цього файлу відкидаються. Це означає, що директиви дійсні тільки від точки визначення до кінця файлу, в якому вони визначені. Директиви, визначені в одному файлі коду, не впливають на директиви, визначені всередині інших файлів цього ж проекту</a:t>
            </a:r>
            <a:r>
              <a:rPr lang="uk-UA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1779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_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_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ECF68C-0195-44DC-BDA8-26923D05E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434" y="-1"/>
            <a:ext cx="7197132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FF35E0F-75A7-4535-BB60-0BA8E5527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2434" y="5628781"/>
            <a:ext cx="1724266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257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Область видимості директиви #</a:t>
            </a:r>
            <a:r>
              <a:rPr lang="en-US" b="1" dirty="0"/>
              <a:t>define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Незважаючи на те, що ми оголосили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PRINT</a:t>
            </a:r>
            <a:r>
              <a:rPr lang="en-US" sz="1800" dirty="0"/>
              <a:t> </a:t>
            </a:r>
            <a:r>
              <a:rPr lang="uk-UA" sz="1800" dirty="0"/>
              <a:t>в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main.cpp </a:t>
            </a:r>
            <a:r>
              <a:rPr lang="en-US" sz="1800" dirty="0"/>
              <a:t>(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#define PRINT</a:t>
            </a:r>
            <a:r>
              <a:rPr lang="en-US" sz="1800" dirty="0"/>
              <a:t>), </a:t>
            </a:r>
            <a:r>
              <a:rPr lang="uk-UA" sz="1800" dirty="0"/>
              <a:t>це все одно не має ніякого впливу на що-небудь в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function.cpp</a:t>
            </a:r>
            <a:r>
              <a:rPr lang="en-US" sz="1800" dirty="0"/>
              <a:t>. </a:t>
            </a:r>
            <a:r>
              <a:rPr lang="uk-UA" sz="1800" dirty="0"/>
              <a:t>Тому, при виконанні функції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doSomething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()</a:t>
            </a:r>
            <a:r>
              <a:rPr lang="en-US" sz="1800" dirty="0"/>
              <a:t>, </a:t>
            </a:r>
            <a:r>
              <a:rPr lang="uk-UA" sz="1800" dirty="0"/>
              <a:t>у нас виводиться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Not printing!</a:t>
            </a:r>
            <a:r>
              <a:rPr lang="en-US" sz="1800" dirty="0"/>
              <a:t>, </a:t>
            </a:r>
            <a:r>
              <a:rPr lang="uk-UA" sz="1800" dirty="0"/>
              <a:t>так як в файлі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function.cpp </a:t>
            </a:r>
            <a:r>
              <a:rPr lang="uk-UA" sz="1800" dirty="0"/>
              <a:t>ми не оголошували ідентифікатор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PRINT</a:t>
            </a:r>
            <a:r>
              <a:rPr lang="en-US" sz="1800" dirty="0"/>
              <a:t> (</a:t>
            </a:r>
            <a:r>
              <a:rPr lang="uk-UA" sz="1800" dirty="0"/>
              <a:t>за допомогою директиви 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define</a:t>
            </a:r>
            <a:r>
              <a:rPr lang="en-US" sz="1800" dirty="0"/>
              <a:t>). </a:t>
            </a:r>
            <a:r>
              <a:rPr lang="uk-UA" sz="1800" dirty="0"/>
              <a:t>Це пов’язано з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header guards</a:t>
            </a:r>
            <a:r>
              <a:rPr lang="en-US" sz="1800" dirty="0"/>
              <a:t>.</a:t>
            </a:r>
            <a:endParaRPr lang="uk-UA" sz="1800" dirty="0"/>
          </a:p>
        </p:txBody>
      </p:sp>
    </p:spTree>
    <p:extLst>
      <p:ext uri="{BB962C8B-B14F-4D97-AF65-F5344CB8AC3E}">
        <p14:creationId xmlns:p14="http://schemas.microsoft.com/office/powerpoint/2010/main" val="785882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>
            <a:normAutofit/>
          </a:bodyPr>
          <a:lstStyle/>
          <a:p>
            <a:pPr marL="720000"/>
            <a:r>
              <a:rPr lang="uk-UA" b="1" dirty="0"/>
              <a:t>Інші директиви препроцесора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 err="1"/>
              <a:t>Крім</a:t>
            </a:r>
            <a:r>
              <a:rPr lang="ru-RU" sz="1800" dirty="0"/>
              <a:t> уже </a:t>
            </a:r>
            <a:r>
              <a:rPr lang="ru-RU" sz="1800" dirty="0" err="1"/>
              <a:t>відомих</a:t>
            </a:r>
            <a:r>
              <a:rPr lang="ru-RU" sz="1800" dirty="0"/>
              <a:t> нам директив, є </a:t>
            </a:r>
            <a:r>
              <a:rPr lang="ru-RU" sz="1800" dirty="0" err="1"/>
              <a:t>кілька</a:t>
            </a:r>
            <a:r>
              <a:rPr lang="ru-RU" sz="1800" dirty="0"/>
              <a:t> </a:t>
            </a:r>
            <a:r>
              <a:rPr lang="ru-RU" sz="1800" dirty="0" err="1"/>
              <a:t>додаткових</a:t>
            </a:r>
            <a:r>
              <a:rPr lang="ru-RU" sz="1800" dirty="0"/>
              <a:t>, ось </a:t>
            </a:r>
            <a:r>
              <a:rPr lang="ru-RU" sz="1800" dirty="0" err="1"/>
              <a:t>деякі</a:t>
            </a:r>
            <a:r>
              <a:rPr lang="ru-RU" sz="1800" dirty="0"/>
              <a:t> з них: 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1. Для </a:t>
            </a:r>
            <a:r>
              <a:rPr lang="ru-RU" sz="1800" dirty="0" err="1"/>
              <a:t>нумерації</a:t>
            </a:r>
            <a:r>
              <a:rPr lang="ru-RU" sz="1800" dirty="0"/>
              <a:t> </a:t>
            </a:r>
            <a:r>
              <a:rPr lang="ru-RU" sz="1800" dirty="0" err="1"/>
              <a:t>рядків</a:t>
            </a:r>
            <a:r>
              <a:rPr lang="ru-RU" sz="1800" dirty="0"/>
              <a:t> </a:t>
            </a:r>
            <a:r>
              <a:rPr lang="ru-RU" sz="1800" dirty="0" err="1"/>
              <a:t>можна</a:t>
            </a:r>
            <a:r>
              <a:rPr lang="ru-RU" sz="1800" dirty="0"/>
              <a:t> </a:t>
            </a:r>
            <a:r>
              <a:rPr lang="ru-RU" sz="1800" dirty="0" err="1"/>
              <a:t>використовувати</a:t>
            </a:r>
            <a:r>
              <a:rPr lang="ru-RU" sz="1800" dirty="0"/>
              <a:t> директиву: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#line &lt;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константа&gt;</a:t>
            </a:r>
            <a:endParaRPr lang="en-US" sz="18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яка </a:t>
            </a:r>
            <a:r>
              <a:rPr lang="ru-RU" sz="1800" dirty="0" err="1"/>
              <a:t>вказує</a:t>
            </a:r>
            <a:r>
              <a:rPr lang="ru-RU" sz="1800" dirty="0"/>
              <a:t> </a:t>
            </a:r>
            <a:r>
              <a:rPr lang="ru-RU" sz="1800" dirty="0" err="1"/>
              <a:t>компілятору</a:t>
            </a:r>
            <a:r>
              <a:rPr lang="ru-RU" sz="1800" dirty="0"/>
              <a:t>, </a:t>
            </a:r>
            <a:r>
              <a:rPr lang="ru-RU" sz="1800" dirty="0" err="1"/>
              <a:t>що</a:t>
            </a:r>
            <a:r>
              <a:rPr lang="ru-RU" sz="1800" dirty="0"/>
              <a:t> рядок тексту </a:t>
            </a:r>
            <a:r>
              <a:rPr lang="ru-RU" sz="1800" dirty="0" err="1"/>
              <a:t>нижче</a:t>
            </a:r>
            <a:r>
              <a:rPr lang="ru-RU" sz="1800" dirty="0"/>
              <a:t> </a:t>
            </a:r>
            <a:r>
              <a:rPr lang="ru-RU" sz="1800" dirty="0" err="1"/>
              <a:t>має</a:t>
            </a:r>
            <a:r>
              <a:rPr lang="ru-RU" sz="1800" dirty="0"/>
              <a:t> номер, </a:t>
            </a:r>
            <a:r>
              <a:rPr lang="ru-RU" sz="1800" dirty="0" err="1"/>
              <a:t>який</a:t>
            </a:r>
            <a:r>
              <a:rPr lang="ru-RU" sz="1800" dirty="0"/>
              <a:t> </a:t>
            </a:r>
            <a:r>
              <a:rPr lang="ru-RU" sz="1800" dirty="0" err="1"/>
              <a:t>визначається</a:t>
            </a:r>
            <a:r>
              <a:rPr lang="ru-RU" sz="1800" dirty="0"/>
              <a:t> </a:t>
            </a:r>
            <a:r>
              <a:rPr lang="ru-RU" sz="1800" dirty="0" err="1"/>
              <a:t>цілою</a:t>
            </a:r>
            <a:r>
              <a:rPr lang="ru-RU" sz="1800" dirty="0"/>
              <a:t> </a:t>
            </a:r>
            <a:r>
              <a:rPr lang="ru-RU" sz="1800" dirty="0" err="1"/>
              <a:t>десятковою</a:t>
            </a:r>
            <a:r>
              <a:rPr lang="ru-RU" sz="1800" dirty="0"/>
              <a:t> константою. Команда </a:t>
            </a:r>
            <a:r>
              <a:rPr lang="ru-RU" sz="1800" dirty="0" err="1"/>
              <a:t>може</a:t>
            </a:r>
            <a:r>
              <a:rPr lang="ru-RU" sz="1800" dirty="0"/>
              <a:t> </a:t>
            </a:r>
            <a:r>
              <a:rPr lang="ru-RU" sz="1800" dirty="0" err="1"/>
              <a:t>визначати</a:t>
            </a:r>
            <a:r>
              <a:rPr lang="ru-RU" sz="1800" dirty="0"/>
              <a:t> не </a:t>
            </a:r>
            <a:r>
              <a:rPr lang="ru-RU" sz="1800" dirty="0" err="1"/>
              <a:t>тільки</a:t>
            </a:r>
            <a:r>
              <a:rPr lang="ru-RU" sz="1800" dirty="0"/>
              <a:t> номер рядка, а й </a:t>
            </a:r>
            <a:r>
              <a:rPr lang="ru-RU" sz="1800" dirty="0" err="1"/>
              <a:t>ім'я</a:t>
            </a:r>
            <a:r>
              <a:rPr lang="ru-RU" sz="1800" dirty="0"/>
              <a:t> файлу: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#line &lt;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константа&gt; "&lt;</a:t>
            </a:r>
            <a:r>
              <a:rPr lang="uk-UA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ім'я_файлу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&gt;" </a:t>
            </a:r>
            <a:endParaRPr lang="en-US" sz="18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2. Директива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#error &lt;</a:t>
            </a:r>
            <a:r>
              <a:rPr lang="ru-RU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послідовність_лексем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 err="1"/>
              <a:t>призводить</a:t>
            </a:r>
            <a:r>
              <a:rPr lang="ru-RU" sz="1800" dirty="0"/>
              <a:t> до </a:t>
            </a:r>
            <a:r>
              <a:rPr lang="ru-RU" sz="1800" dirty="0" err="1"/>
              <a:t>видачі</a:t>
            </a:r>
            <a:r>
              <a:rPr lang="ru-RU" sz="1800" dirty="0"/>
              <a:t> </a:t>
            </a:r>
            <a:r>
              <a:rPr lang="ru-RU" sz="1800" dirty="0" err="1"/>
              <a:t>діагностичного</a:t>
            </a:r>
            <a:r>
              <a:rPr lang="ru-RU" sz="1800" dirty="0"/>
              <a:t> </a:t>
            </a:r>
            <a:r>
              <a:rPr lang="ru-RU" sz="1800" dirty="0" err="1"/>
              <a:t>повідомлення</a:t>
            </a:r>
            <a:r>
              <a:rPr lang="ru-RU" sz="1800" dirty="0"/>
              <a:t> у </a:t>
            </a:r>
            <a:r>
              <a:rPr lang="ru-RU" sz="1800" dirty="0" err="1"/>
              <a:t>вигляді</a:t>
            </a:r>
            <a:r>
              <a:rPr lang="ru-RU" sz="1800" dirty="0"/>
              <a:t> </a:t>
            </a:r>
            <a:r>
              <a:rPr lang="ru-RU" sz="1800" dirty="0" err="1"/>
              <a:t>послідовності</a:t>
            </a:r>
            <a:r>
              <a:rPr lang="ru-RU" sz="1800" dirty="0"/>
              <a:t> лексем. Директива 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#еrror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ru-RU" sz="1800" dirty="0"/>
              <a:t>часто </a:t>
            </a:r>
            <a:r>
              <a:rPr lang="ru-RU" sz="1800" dirty="0" err="1"/>
              <a:t>застосовується</a:t>
            </a:r>
            <a:r>
              <a:rPr lang="ru-RU" sz="1800" dirty="0"/>
              <a:t> з </a:t>
            </a:r>
            <a:r>
              <a:rPr lang="ru-RU" sz="1800" dirty="0" err="1"/>
              <a:t>умовними</a:t>
            </a:r>
            <a:r>
              <a:rPr lang="ru-RU" sz="1800" dirty="0"/>
              <a:t> </a:t>
            </a:r>
            <a:r>
              <a:rPr lang="ru-RU" sz="1800" dirty="0" err="1"/>
              <a:t>препроцесорними</a:t>
            </a:r>
            <a:r>
              <a:rPr lang="ru-RU" sz="1800" dirty="0"/>
              <a:t> командами. </a:t>
            </a:r>
            <a:r>
              <a:rPr lang="ru-RU" sz="1800" dirty="0" err="1"/>
              <a:t>Наприклад</a:t>
            </a:r>
            <a:r>
              <a:rPr lang="ru-RU" sz="1800" dirty="0"/>
              <a:t>, </a:t>
            </a:r>
            <a:r>
              <a:rPr lang="ru-RU" sz="1800" dirty="0" err="1"/>
              <a:t>визначивши</a:t>
            </a:r>
            <a:r>
              <a:rPr lang="ru-RU" sz="1800" dirty="0"/>
              <a:t> </a:t>
            </a:r>
            <a:r>
              <a:rPr lang="ru-RU" sz="1800" dirty="0" err="1"/>
              <a:t>деяку</a:t>
            </a:r>
            <a:r>
              <a:rPr lang="ru-RU" sz="1800" dirty="0"/>
              <a:t> </a:t>
            </a:r>
            <a:r>
              <a:rPr lang="ru-RU" sz="1800" dirty="0" err="1"/>
              <a:t>препроцесорну</a:t>
            </a:r>
            <a:r>
              <a:rPr lang="ru-RU" sz="1800" dirty="0"/>
              <a:t> </a:t>
            </a:r>
            <a:r>
              <a:rPr lang="ru-RU" sz="1800" dirty="0" err="1"/>
              <a:t>змінну</a:t>
            </a:r>
            <a:r>
              <a:rPr lang="ru-RU" sz="1800" dirty="0"/>
              <a:t> 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NAME</a:t>
            </a:r>
            <a:endParaRPr lang="en-US" sz="18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#define NAME 5</a:t>
            </a:r>
            <a:endParaRPr lang="uk-UA" sz="18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727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Інші директиви препроцесора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надалі можна перевірити її значення і видати повідомлення, якщо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/>
              <a:t> </a:t>
            </a:r>
            <a:r>
              <a:rPr lang="uk-UA" sz="1800" dirty="0"/>
              <a:t>має інше значення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Повідомлення виглядатиме так: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Оператор 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ru-RU" sz="1800" dirty="0"/>
              <a:t> </a:t>
            </a:r>
            <a:r>
              <a:rPr lang="ru-RU" sz="1800" dirty="0" err="1"/>
              <a:t>перетворює</a:t>
            </a:r>
            <a:r>
              <a:rPr lang="ru-RU" sz="1800" dirty="0"/>
              <a:t> аргумент, </a:t>
            </a:r>
            <a:r>
              <a:rPr lang="ru-RU" sz="1800" dirty="0" err="1"/>
              <a:t>якому</a:t>
            </a:r>
            <a:r>
              <a:rPr lang="ru-RU" sz="1800" dirty="0"/>
              <a:t> </a:t>
            </a:r>
            <a:r>
              <a:rPr lang="ru-RU" sz="1800" dirty="0" err="1"/>
              <a:t>він</a:t>
            </a:r>
            <a:r>
              <a:rPr lang="ru-RU" sz="1800" dirty="0"/>
              <a:t> </a:t>
            </a:r>
            <a:r>
              <a:rPr lang="ru-RU" sz="1800" dirty="0" err="1"/>
              <a:t>передує</a:t>
            </a:r>
            <a:r>
              <a:rPr lang="ru-RU" sz="1800" dirty="0"/>
              <a:t>, на рядок у лапках.</a:t>
            </a:r>
            <a:endParaRPr lang="uk-UA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33E426-B022-4D47-8E54-D12B61076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890" y="1379144"/>
            <a:ext cx="5144218" cy="74305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614CDF2-1CE5-4F9F-B86C-A8523358E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811" y="2643649"/>
            <a:ext cx="4658375" cy="57158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8C858C9-4063-43D0-832C-69D197212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7056" y="4271947"/>
            <a:ext cx="4497884" cy="258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91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_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Оператор 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##</a:t>
            </a:r>
            <a:r>
              <a:rPr lang="ru-RU" sz="1800" dirty="0"/>
              <a:t> </a:t>
            </a:r>
            <a:r>
              <a:rPr lang="ru-RU" sz="1800" dirty="0" err="1"/>
              <a:t>використовується</a:t>
            </a:r>
            <a:r>
              <a:rPr lang="ru-RU" sz="1800" dirty="0"/>
              <a:t> для </a:t>
            </a:r>
            <a:r>
              <a:rPr lang="ru-RU" sz="1800" dirty="0" err="1"/>
              <a:t>конкатенації</a:t>
            </a:r>
            <a:r>
              <a:rPr lang="ru-RU" sz="1800" dirty="0"/>
              <a:t> (</a:t>
            </a:r>
            <a:r>
              <a:rPr lang="ru-RU" sz="1800" dirty="0" err="1"/>
              <a:t>об'єднання</a:t>
            </a:r>
            <a:r>
              <a:rPr lang="ru-RU" sz="1800" dirty="0"/>
              <a:t>) </a:t>
            </a:r>
            <a:r>
              <a:rPr lang="ru-RU" sz="1800" dirty="0" err="1"/>
              <a:t>двох</a:t>
            </a:r>
            <a:r>
              <a:rPr lang="ru-RU" sz="1800" dirty="0"/>
              <a:t> лексем</a:t>
            </a:r>
            <a:endParaRPr lang="uk-UA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67CE67-FEDF-45CA-AA9D-87BFD8A83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664" y="1354617"/>
            <a:ext cx="4168669" cy="379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640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>
            <a:normAutofit fontScale="90000"/>
          </a:bodyPr>
          <a:lstStyle/>
          <a:p>
            <a:pPr marL="720000"/>
            <a:r>
              <a:rPr lang="en-US" b="1" dirty="0"/>
              <a:t>Header guards </a:t>
            </a:r>
            <a:r>
              <a:rPr lang="uk-UA" b="1" dirty="0"/>
              <a:t>і директива #</a:t>
            </a:r>
            <a:r>
              <a:rPr lang="en-US" b="1" dirty="0"/>
              <a:t>pragma once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b="1" dirty="0">
                <a:highlight>
                  <a:srgbClr val="00FF00"/>
                </a:highlight>
              </a:rPr>
              <a:t>Проблема дублювання оголошень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Як ми вже знаємо, ідентифікатор може мати тільки одне оголошення. Таким чином, програма з двома оголошеннями однієї змінної отримає помилку компіляції: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B513395-57E7-412A-BC7C-050A7FB42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13" y="3155469"/>
            <a:ext cx="5210881" cy="204858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71897B-08AA-4D49-AA80-2A1F9C192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246" y="2197672"/>
            <a:ext cx="5489655" cy="455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827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>
            <a:normAutofit fontScale="90000"/>
          </a:bodyPr>
          <a:lstStyle/>
          <a:p>
            <a:pPr marL="720000"/>
            <a:r>
              <a:rPr lang="en-US" b="1" dirty="0"/>
              <a:t>Header guards </a:t>
            </a:r>
            <a:r>
              <a:rPr lang="uk-UA" b="1" dirty="0"/>
              <a:t>і директива #</a:t>
            </a:r>
            <a:r>
              <a:rPr lang="en-US" b="1" dirty="0"/>
              <a:t>pragma once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 err="1"/>
              <a:t>Хоча</a:t>
            </a:r>
            <a:r>
              <a:rPr lang="ru-RU" sz="1800" dirty="0"/>
              <a:t> </a:t>
            </a:r>
            <a:r>
              <a:rPr lang="ru-RU" sz="1800" dirty="0" err="1"/>
              <a:t>ці</a:t>
            </a:r>
            <a:r>
              <a:rPr lang="ru-RU" sz="1800" dirty="0"/>
              <a:t> </a:t>
            </a:r>
            <a:r>
              <a:rPr lang="ru-RU" sz="1800" dirty="0" err="1"/>
              <a:t>помилки</a:t>
            </a:r>
            <a:r>
              <a:rPr lang="ru-RU" sz="1800" dirty="0"/>
              <a:t> легко </a:t>
            </a:r>
            <a:r>
              <a:rPr lang="ru-RU" sz="1800" dirty="0" err="1"/>
              <a:t>виправити</a:t>
            </a:r>
            <a:r>
              <a:rPr lang="ru-RU" sz="1800" dirty="0"/>
              <a:t> (</a:t>
            </a:r>
            <a:r>
              <a:rPr lang="ru-RU" sz="1800" dirty="0" err="1"/>
              <a:t>досить</a:t>
            </a:r>
            <a:r>
              <a:rPr lang="ru-RU" sz="1800" dirty="0"/>
              <a:t> просто </a:t>
            </a:r>
            <a:r>
              <a:rPr lang="ru-RU" sz="1800" dirty="0" err="1"/>
              <a:t>видалити</a:t>
            </a:r>
            <a:r>
              <a:rPr lang="ru-RU" sz="1800" dirty="0"/>
              <a:t> </a:t>
            </a:r>
            <a:r>
              <a:rPr lang="ru-RU" sz="1800" dirty="0" err="1"/>
              <a:t>дублювання</a:t>
            </a:r>
            <a:r>
              <a:rPr lang="ru-RU" sz="1800" dirty="0"/>
              <a:t>), </a:t>
            </a:r>
            <a:r>
              <a:rPr lang="ru-RU" sz="1800" b="1" dirty="0">
                <a:highlight>
                  <a:srgbClr val="00FF00"/>
                </a:highlight>
              </a:rPr>
              <a:t>з </a:t>
            </a:r>
            <a:r>
              <a:rPr lang="ru-RU" sz="1800" b="1" dirty="0" err="1">
                <a:highlight>
                  <a:srgbClr val="00FF00"/>
                </a:highlight>
              </a:rPr>
              <a:t>заголовковими</a:t>
            </a:r>
            <a:r>
              <a:rPr lang="ru-RU" sz="1800" b="1" dirty="0">
                <a:highlight>
                  <a:srgbClr val="00FF00"/>
                </a:highlight>
              </a:rPr>
              <a:t> файлами все </a:t>
            </a:r>
            <a:r>
              <a:rPr lang="ru-RU" sz="1800" b="1" dirty="0" err="1">
                <a:highlight>
                  <a:srgbClr val="00FF00"/>
                </a:highlight>
              </a:rPr>
              <a:t>трохи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по-іншому</a:t>
            </a:r>
            <a:r>
              <a:rPr lang="ru-RU" sz="1800" dirty="0"/>
              <a:t>. </a:t>
            </a:r>
            <a:r>
              <a:rPr lang="ru-RU" sz="1800" b="1" dirty="0" err="1">
                <a:highlight>
                  <a:srgbClr val="00FFFF"/>
                </a:highlight>
              </a:rPr>
              <a:t>Досить</a:t>
            </a:r>
            <a:r>
              <a:rPr lang="ru-RU" sz="1800" b="1" dirty="0">
                <a:highlight>
                  <a:srgbClr val="00FFFF"/>
                </a:highlight>
              </a:rPr>
              <a:t> легко </a:t>
            </a:r>
            <a:r>
              <a:rPr lang="ru-RU" sz="1800" b="1" dirty="0" err="1">
                <a:highlight>
                  <a:srgbClr val="00FFFF"/>
                </a:highlight>
              </a:rPr>
              <a:t>можна</a:t>
            </a:r>
            <a:r>
              <a:rPr lang="ru-RU" sz="1800" b="1" dirty="0">
                <a:highlight>
                  <a:srgbClr val="00FFFF"/>
                </a:highlight>
              </a:rPr>
              <a:t> </a:t>
            </a:r>
            <a:r>
              <a:rPr lang="ru-RU" sz="1800" b="1" dirty="0" err="1">
                <a:highlight>
                  <a:srgbClr val="00FFFF"/>
                </a:highlight>
              </a:rPr>
              <a:t>потрапити</a:t>
            </a:r>
            <a:r>
              <a:rPr lang="ru-RU" sz="1800" b="1" dirty="0">
                <a:highlight>
                  <a:srgbClr val="00FFFF"/>
                </a:highlight>
              </a:rPr>
              <a:t> в </a:t>
            </a:r>
            <a:r>
              <a:rPr lang="ru-RU" sz="1800" b="1" dirty="0" err="1">
                <a:highlight>
                  <a:srgbClr val="00FFFF"/>
                </a:highlight>
              </a:rPr>
              <a:t>ситуацію</a:t>
            </a:r>
            <a:r>
              <a:rPr lang="ru-RU" sz="1800" b="1" dirty="0">
                <a:highlight>
                  <a:srgbClr val="00FFFF"/>
                </a:highlight>
              </a:rPr>
              <a:t>, коли </a:t>
            </a:r>
            <a:r>
              <a:rPr lang="ru-RU" sz="1800" b="1" dirty="0" err="1">
                <a:highlight>
                  <a:srgbClr val="00FFFF"/>
                </a:highlight>
              </a:rPr>
              <a:t>визначення</a:t>
            </a:r>
            <a:r>
              <a:rPr lang="ru-RU" sz="1800" b="1" dirty="0">
                <a:highlight>
                  <a:srgbClr val="00FFFF"/>
                </a:highlight>
              </a:rPr>
              <a:t> одних і тих же </a:t>
            </a:r>
            <a:r>
              <a:rPr lang="ru-RU" sz="1800" b="1" dirty="0" err="1">
                <a:highlight>
                  <a:srgbClr val="00FFFF"/>
                </a:highlight>
              </a:rPr>
              <a:t>заголовків</a:t>
            </a:r>
            <a:r>
              <a:rPr lang="ru-RU" sz="1800" b="1" dirty="0">
                <a:highlight>
                  <a:srgbClr val="00FFFF"/>
                </a:highlight>
              </a:rPr>
              <a:t> </a:t>
            </a:r>
            <a:r>
              <a:rPr lang="ru-RU" sz="1800" b="1" dirty="0" err="1">
                <a:highlight>
                  <a:srgbClr val="00FFFF"/>
                </a:highlight>
              </a:rPr>
              <a:t>будуть</a:t>
            </a:r>
            <a:r>
              <a:rPr lang="ru-RU" sz="1800" b="1" dirty="0">
                <a:highlight>
                  <a:srgbClr val="00FFFF"/>
                </a:highlight>
              </a:rPr>
              <a:t> </a:t>
            </a:r>
            <a:r>
              <a:rPr lang="ru-RU" sz="1800" b="1" dirty="0" err="1">
                <a:highlight>
                  <a:srgbClr val="00FFFF"/>
                </a:highlight>
              </a:rPr>
              <a:t>підключатися</a:t>
            </a:r>
            <a:r>
              <a:rPr lang="ru-RU" sz="1800" b="1" dirty="0">
                <a:highlight>
                  <a:srgbClr val="00FFFF"/>
                </a:highlight>
              </a:rPr>
              <a:t> </a:t>
            </a:r>
            <a:r>
              <a:rPr lang="ru-RU" sz="1800" b="1" dirty="0" err="1">
                <a:highlight>
                  <a:srgbClr val="00FFFF"/>
                </a:highlight>
              </a:rPr>
              <a:t>більше</a:t>
            </a:r>
            <a:r>
              <a:rPr lang="ru-RU" sz="1800" b="1" dirty="0">
                <a:highlight>
                  <a:srgbClr val="00FFFF"/>
                </a:highlight>
              </a:rPr>
              <a:t> одного разу в файл 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ru-RU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cpp</a:t>
            </a:r>
            <a:r>
              <a:rPr lang="ru-RU" sz="1800" dirty="0"/>
              <a:t>. </a:t>
            </a:r>
            <a:r>
              <a:rPr lang="ru-RU" sz="1800" dirty="0" err="1"/>
              <a:t>Дуже</a:t>
            </a:r>
            <a:r>
              <a:rPr lang="ru-RU" sz="1800" dirty="0"/>
              <a:t> часто </a:t>
            </a:r>
            <a:r>
              <a:rPr lang="ru-RU" sz="1800" dirty="0" err="1"/>
              <a:t>це</a:t>
            </a:r>
            <a:r>
              <a:rPr lang="ru-RU" sz="1800" dirty="0"/>
              <a:t> </a:t>
            </a:r>
            <a:r>
              <a:rPr lang="ru-RU" sz="1800" dirty="0" err="1"/>
              <a:t>трапляється</a:t>
            </a:r>
            <a:r>
              <a:rPr lang="ru-RU" sz="1800" dirty="0"/>
              <a:t> при </a:t>
            </a:r>
            <a:r>
              <a:rPr lang="ru-RU" sz="1800" dirty="0" err="1"/>
              <a:t>підключенні</a:t>
            </a:r>
            <a:r>
              <a:rPr lang="ru-RU" sz="1800" dirty="0"/>
              <a:t> одного заголовка </a:t>
            </a:r>
            <a:r>
              <a:rPr lang="ru-RU" sz="1800" dirty="0" err="1"/>
              <a:t>іншим</a:t>
            </a:r>
            <a:r>
              <a:rPr lang="ru-RU" sz="1800" dirty="0"/>
              <a:t>.</a:t>
            </a:r>
            <a:endParaRPr lang="uk-UA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019199-FB0E-4C56-B68B-7632C5B3A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424" y="2581153"/>
            <a:ext cx="3397151" cy="42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92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>
            <a:normAutofit fontScale="90000"/>
          </a:bodyPr>
          <a:lstStyle/>
          <a:p>
            <a:pPr marL="720000"/>
            <a:r>
              <a:rPr lang="en-US" b="1" dirty="0"/>
              <a:t>Header guards </a:t>
            </a:r>
            <a:r>
              <a:rPr lang="uk-UA" b="1" dirty="0"/>
              <a:t>і директива #</a:t>
            </a:r>
            <a:r>
              <a:rPr lang="en-US" b="1" dirty="0"/>
              <a:t>pragma once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b="1" dirty="0">
                <a:highlight>
                  <a:srgbClr val="FF0000"/>
                </a:highlight>
              </a:rPr>
              <a:t>Ця, здавалося б, невинна програма, не </a:t>
            </a:r>
            <a:r>
              <a:rPr lang="uk-UA" sz="1800" b="1" dirty="0" err="1">
                <a:highlight>
                  <a:srgbClr val="FF0000"/>
                </a:highlight>
              </a:rPr>
              <a:t>скомпілюється</a:t>
            </a:r>
            <a:r>
              <a:rPr lang="uk-UA" sz="1800" dirty="0"/>
              <a:t>! Проблема криється у визначенні функції у файлі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math.h</a:t>
            </a:r>
            <a:r>
              <a:rPr lang="en-US" sz="1800" dirty="0"/>
              <a:t>. </a:t>
            </a:r>
            <a:r>
              <a:rPr lang="uk-UA" sz="1800" dirty="0"/>
              <a:t>Давайте детально розглянемо, що тут відбувається: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  <a:p>
            <a:pPr marL="825750" indent="-285750">
              <a:lnSpc>
                <a:spcPct val="150000"/>
              </a:lnSpc>
              <a:spcBef>
                <a:spcPts val="0"/>
              </a:spcBef>
            </a:pPr>
            <a:r>
              <a:rPr lang="uk-UA" sz="1800" dirty="0"/>
              <a:t>Спочатку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main.cpp </a:t>
            </a:r>
            <a:r>
              <a:rPr lang="uk-UA" sz="1800" dirty="0"/>
              <a:t>підключає заголовок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math.h</a:t>
            </a:r>
            <a:r>
              <a:rPr lang="en-US" sz="1800" dirty="0"/>
              <a:t>, </a:t>
            </a:r>
            <a:r>
              <a:rPr lang="uk-UA" sz="1800" dirty="0"/>
              <a:t>внаслідок чого визначення функції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getSquareSides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() </a:t>
            </a:r>
            <a:r>
              <a:rPr lang="uk-UA" sz="1800" dirty="0"/>
              <a:t>копіюється в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main.cpp</a:t>
            </a:r>
            <a:r>
              <a:rPr lang="en-US" sz="1800" dirty="0"/>
              <a:t>.</a:t>
            </a:r>
          </a:p>
          <a:p>
            <a:pPr marL="825750" indent="-285750">
              <a:lnSpc>
                <a:spcPct val="150000"/>
              </a:lnSpc>
              <a:spcBef>
                <a:spcPts val="0"/>
              </a:spcBef>
            </a:pPr>
            <a:r>
              <a:rPr lang="uk-UA" sz="1800" dirty="0"/>
              <a:t>Після цього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main.cpp </a:t>
            </a:r>
            <a:r>
              <a:rPr lang="uk-UA" sz="1800" dirty="0"/>
              <a:t>підключає заголовковий файл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geometry.h</a:t>
            </a:r>
            <a:r>
              <a:rPr lang="en-US" sz="1800" dirty="0"/>
              <a:t>, </a:t>
            </a:r>
            <a:r>
              <a:rPr lang="uk-UA" sz="1800" dirty="0"/>
              <a:t>який, в свою чергу, підключає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math.h</a:t>
            </a:r>
            <a:r>
              <a:rPr lang="en-US" sz="1800" dirty="0"/>
              <a:t>.</a:t>
            </a:r>
          </a:p>
          <a:p>
            <a:pPr marL="825750" indent="-285750">
              <a:lnSpc>
                <a:spcPct val="150000"/>
              </a:lnSpc>
              <a:spcBef>
                <a:spcPts val="0"/>
              </a:spcBef>
            </a:pPr>
            <a:r>
              <a:rPr lang="uk-UA" sz="1800" dirty="0"/>
              <a:t>В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geometry.h</a:t>
            </a:r>
            <a:r>
              <a:rPr lang="en-US" sz="1800" dirty="0"/>
              <a:t> </a:t>
            </a:r>
            <a:r>
              <a:rPr lang="uk-UA" sz="1800" dirty="0"/>
              <a:t>знаходиться копія функції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getSquareSides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() </a:t>
            </a:r>
            <a:r>
              <a:rPr lang="en-US" sz="1800" dirty="0"/>
              <a:t>(</a:t>
            </a:r>
            <a:r>
              <a:rPr lang="uk-UA" sz="1800" dirty="0"/>
              <a:t>з файлу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math.h</a:t>
            </a:r>
            <a:r>
              <a:rPr lang="en-US" sz="1800" dirty="0"/>
              <a:t>), </a:t>
            </a:r>
            <a:r>
              <a:rPr lang="uk-UA" sz="1800" dirty="0"/>
              <a:t>яка вже вдруге копіюється в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main.cpp</a:t>
            </a:r>
            <a:r>
              <a:rPr lang="en-US" sz="1800" dirty="0"/>
              <a:t>.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Таким чином, після виконання всіх директив 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include</a:t>
            </a:r>
            <a:r>
              <a:rPr lang="en-US" sz="1800" dirty="0"/>
              <a:t>,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main.cpp </a:t>
            </a:r>
            <a:r>
              <a:rPr lang="uk-UA" sz="1800" dirty="0"/>
              <a:t>матиме наступний вигляд:</a:t>
            </a:r>
          </a:p>
        </p:txBody>
      </p:sp>
    </p:spTree>
    <p:extLst>
      <p:ext uri="{BB962C8B-B14F-4D97-AF65-F5344CB8AC3E}">
        <p14:creationId xmlns:p14="http://schemas.microsoft.com/office/powerpoint/2010/main" val="15074550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>
            <a:normAutofit fontScale="90000"/>
          </a:bodyPr>
          <a:lstStyle/>
          <a:p>
            <a:pPr marL="720000"/>
            <a:r>
              <a:rPr lang="en-US" b="1" dirty="0"/>
              <a:t>Header guards </a:t>
            </a:r>
            <a:r>
              <a:rPr lang="uk-UA" b="1" dirty="0"/>
              <a:t>і директива #</a:t>
            </a:r>
            <a:r>
              <a:rPr lang="en-US" b="1" dirty="0"/>
              <a:t>pragma once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Таким чином, </a:t>
            </a:r>
            <a:r>
              <a:rPr lang="ru-RU" sz="1800" dirty="0" err="1"/>
              <a:t>після</a:t>
            </a:r>
            <a:r>
              <a:rPr lang="ru-RU" sz="1800" dirty="0"/>
              <a:t> </a:t>
            </a:r>
            <a:r>
              <a:rPr lang="ru-RU" sz="1800" dirty="0" err="1"/>
              <a:t>виконання</a:t>
            </a:r>
            <a:r>
              <a:rPr lang="ru-RU" sz="1800" dirty="0"/>
              <a:t> </a:t>
            </a:r>
            <a:r>
              <a:rPr lang="ru-RU" sz="1800" dirty="0" err="1"/>
              <a:t>всіх</a:t>
            </a:r>
            <a:r>
              <a:rPr lang="ru-RU" sz="1800" dirty="0"/>
              <a:t> директив #include, main.cpp </a:t>
            </a:r>
            <a:r>
              <a:rPr lang="ru-RU" sz="1800" dirty="0" err="1"/>
              <a:t>матиме</a:t>
            </a:r>
            <a:r>
              <a:rPr lang="ru-RU" sz="1800" dirty="0"/>
              <a:t> </a:t>
            </a:r>
            <a:r>
              <a:rPr lang="ru-RU" sz="1800" dirty="0" err="1"/>
              <a:t>наступний</a:t>
            </a:r>
            <a:r>
              <a:rPr lang="ru-RU" sz="1800" dirty="0"/>
              <a:t> </a:t>
            </a:r>
            <a:r>
              <a:rPr lang="ru-RU" sz="1800" dirty="0" err="1"/>
              <a:t>вигляд</a:t>
            </a:r>
            <a:r>
              <a:rPr lang="ru-RU" sz="1800" dirty="0"/>
              <a:t>:</a:t>
            </a:r>
            <a:endParaRPr lang="uk-UA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C77699-3EC1-4743-B719-683151A9D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714" y="1761253"/>
            <a:ext cx="5350570" cy="481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0459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>
            <a:normAutofit fontScale="90000"/>
          </a:bodyPr>
          <a:lstStyle/>
          <a:p>
            <a:pPr marL="720000"/>
            <a:r>
              <a:rPr lang="en-US" b="1" dirty="0"/>
              <a:t>Header guards </a:t>
            </a:r>
            <a:r>
              <a:rPr lang="uk-UA" b="1" dirty="0"/>
              <a:t>і директива #</a:t>
            </a:r>
            <a:r>
              <a:rPr lang="en-US" b="1" dirty="0"/>
              <a:t>pragma once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Ми отримаємо дублювання визначень і помилку компіляції. Якщо ж розглядати кожен файл окремо, то помилок немає. Однак, в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main.cpp</a:t>
            </a:r>
            <a:r>
              <a:rPr lang="en-US" sz="1800" dirty="0"/>
              <a:t>, </a:t>
            </a:r>
            <a:r>
              <a:rPr lang="uk-UA" sz="1800" dirty="0"/>
              <a:t>який підключає відразу два заголовки з одним і тим же визначенням функції, ми зіткнемося з проблемами. Якщо для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geometry.h</a:t>
            </a:r>
            <a:r>
              <a:rPr lang="en-US" sz="1800" dirty="0"/>
              <a:t> </a:t>
            </a:r>
            <a:r>
              <a:rPr lang="uk-UA" sz="1800" dirty="0"/>
              <a:t>потрібна функція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getSquareSides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()</a:t>
            </a:r>
            <a:r>
              <a:rPr lang="en-US" sz="1800" dirty="0"/>
              <a:t>, </a:t>
            </a:r>
            <a:r>
              <a:rPr lang="uk-UA" sz="1800" dirty="0"/>
              <a:t>а для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main.cpp</a:t>
            </a:r>
            <a:r>
              <a:rPr lang="en-US" sz="1800" dirty="0"/>
              <a:t> </a:t>
            </a:r>
            <a:r>
              <a:rPr lang="uk-UA" sz="1800" dirty="0"/>
              <a:t>потрібен як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geometry.h</a:t>
            </a:r>
            <a:r>
              <a:rPr lang="en-US" sz="1800" dirty="0"/>
              <a:t>, </a:t>
            </a:r>
            <a:r>
              <a:rPr lang="uk-UA" sz="1800" dirty="0"/>
              <a:t>так і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math.h</a:t>
            </a:r>
            <a:r>
              <a:rPr lang="en-US" sz="1800" dirty="0"/>
              <a:t>, </a:t>
            </a:r>
            <a:r>
              <a:rPr lang="uk-UA" sz="1800" dirty="0"/>
              <a:t>то яке ж рішення?</a:t>
            </a:r>
          </a:p>
        </p:txBody>
      </p:sp>
    </p:spTree>
    <p:extLst>
      <p:ext uri="{BB962C8B-B14F-4D97-AF65-F5344CB8AC3E}">
        <p14:creationId xmlns:p14="http://schemas.microsoft.com/office/powerpoint/2010/main" val="6289776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en-US" b="1" dirty="0"/>
              <a:t>Header guards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Насправді рішення просте — </a:t>
            </a:r>
            <a:r>
              <a:rPr lang="uk-UA" sz="1800" b="1" dirty="0">
                <a:highlight>
                  <a:srgbClr val="00FF00"/>
                </a:highlight>
              </a:rPr>
              <a:t>використовувати </a:t>
            </a:r>
            <a:r>
              <a:rPr lang="en-US" sz="1800" b="1" dirty="0">
                <a:highlight>
                  <a:srgbClr val="00FF00"/>
                </a:highlight>
              </a:rPr>
              <a:t>header guards (</a:t>
            </a:r>
            <a:r>
              <a:rPr lang="uk-UA" sz="1800" b="1" dirty="0">
                <a:highlight>
                  <a:srgbClr val="00FF00"/>
                </a:highlight>
              </a:rPr>
              <a:t>захист підключення в мові </a:t>
            </a:r>
            <a:r>
              <a:rPr lang="en-US" sz="1800" b="1" dirty="0">
                <a:highlight>
                  <a:srgbClr val="00FF00"/>
                </a:highlight>
              </a:rPr>
              <a:t>C++)</a:t>
            </a:r>
            <a:r>
              <a:rPr lang="en-US" sz="1800" dirty="0"/>
              <a:t>. </a:t>
            </a:r>
            <a:r>
              <a:rPr lang="en-US" sz="1800" b="1" dirty="0">
                <a:highlight>
                  <a:srgbClr val="00FF00"/>
                </a:highlight>
              </a:rPr>
              <a:t>Header guards</a:t>
            </a:r>
            <a:r>
              <a:rPr lang="en-US" sz="1800" dirty="0"/>
              <a:t> — </a:t>
            </a:r>
            <a:r>
              <a:rPr lang="uk-UA" sz="1800" dirty="0"/>
              <a:t>це директиви умовної компіляції, які складаються з наступного: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Якщо підключити цей заголовок, то перше, що він зробить, — це перевірить, чи був раніше визначений ідентифікатор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SOME_UNIQUE_NAME_HERE</a:t>
            </a:r>
            <a:r>
              <a:rPr lang="en-US" sz="1800" dirty="0"/>
              <a:t>. </a:t>
            </a:r>
            <a:r>
              <a:rPr lang="uk-UA" sz="1800" dirty="0"/>
              <a:t>Якщо ми вперше підключаємо цей заголовок, то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SOME_UNIQUE_NAME_HERE</a:t>
            </a:r>
            <a:r>
              <a:rPr lang="en-US" sz="1800" dirty="0"/>
              <a:t> </a:t>
            </a:r>
            <a:r>
              <a:rPr lang="uk-UA" sz="1800" dirty="0"/>
              <a:t>ще не був визначений. Отже, ми визначаємо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SOME_UNIQUE_NAME_HER</a:t>
            </a:r>
            <a:r>
              <a:rPr lang="en-US" sz="1800" dirty="0"/>
              <a:t>E (</a:t>
            </a:r>
            <a:r>
              <a:rPr lang="uk-UA" sz="1800" dirty="0"/>
              <a:t>за допомогою директиви 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define</a:t>
            </a:r>
            <a:r>
              <a:rPr lang="en-US" sz="1800" dirty="0"/>
              <a:t>) </a:t>
            </a:r>
            <a:r>
              <a:rPr lang="uk-UA" sz="1800" dirty="0"/>
              <a:t>і виконується основна частина заголовку. Якщо ж ми раніше підключали цей заголовок, то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SOME_UNIQUE_NAME_HERE</a:t>
            </a:r>
            <a:r>
              <a:rPr lang="en-US" sz="1800" dirty="0"/>
              <a:t> </a:t>
            </a:r>
            <a:r>
              <a:rPr lang="uk-UA" sz="1800" dirty="0"/>
              <a:t>вже був визначений. В такому випадку, при підключенні цього заголовку вдруге, його вміст буде проігноровано.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DDBD9E-53C2-41C3-A8BB-4DECAFFE5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817" y="1722334"/>
            <a:ext cx="4214366" cy="235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7736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en-US" b="1" dirty="0"/>
              <a:t>Header guards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b="1" dirty="0">
                <a:highlight>
                  <a:srgbClr val="00FF00"/>
                </a:highlight>
              </a:rPr>
              <a:t>Всі ваші заголовки повинні мати </a:t>
            </a:r>
            <a:r>
              <a:rPr lang="en-US" sz="1800" b="1" dirty="0">
                <a:highlight>
                  <a:srgbClr val="00FF00"/>
                </a:highlight>
              </a:rPr>
              <a:t>header guards</a:t>
            </a:r>
            <a:r>
              <a:rPr lang="en-US" sz="1800" dirty="0"/>
              <a:t>.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SOME_UNIQUE_NAME_HERE</a:t>
            </a:r>
            <a:r>
              <a:rPr lang="en-US" sz="1800" dirty="0"/>
              <a:t> </a:t>
            </a:r>
            <a:r>
              <a:rPr lang="uk-UA" sz="1800" dirty="0"/>
              <a:t>може бути будь-яким ідентифікатором, але, як правило, в якості ідентифікатора використовується ім’я заголовка з закінченням 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H</a:t>
            </a:r>
            <a:r>
              <a:rPr lang="en-US" sz="1800" dirty="0"/>
              <a:t>. </a:t>
            </a:r>
            <a:r>
              <a:rPr lang="uk-UA" sz="1800" dirty="0"/>
              <a:t>Наприклад, у файлі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math.h</a:t>
            </a:r>
            <a:r>
              <a:rPr lang="en-US" sz="1800" dirty="0"/>
              <a:t> </a:t>
            </a:r>
            <a:r>
              <a:rPr lang="uk-UA" sz="1800" dirty="0"/>
              <a:t>ідентифікатором буде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MATH_H</a:t>
            </a:r>
            <a:r>
              <a:rPr lang="en-US" sz="1800" dirty="0"/>
              <a:t>: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b="1" dirty="0">
                <a:highlight>
                  <a:srgbClr val="00FF00"/>
                </a:highlight>
              </a:rPr>
              <a:t>Навіть заголовкові файли зі Стандартної бібліотеки С++ використовують </a:t>
            </a:r>
            <a:r>
              <a:rPr lang="en-US" sz="1800" b="1" dirty="0">
                <a:highlight>
                  <a:srgbClr val="00FF00"/>
                </a:highlight>
              </a:rPr>
              <a:t>header guards</a:t>
            </a:r>
            <a:r>
              <a:rPr lang="en-US" sz="1800" dirty="0"/>
              <a:t>. </a:t>
            </a:r>
            <a:r>
              <a:rPr lang="uk-UA" sz="1800" dirty="0"/>
              <a:t>Якби ви поглянули на вміст заголовку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iostream</a:t>
            </a:r>
            <a:r>
              <a:rPr lang="en-US" sz="1800" dirty="0"/>
              <a:t>, </a:t>
            </a:r>
            <a:r>
              <a:rPr lang="uk-UA" sz="1800" dirty="0"/>
              <a:t>то побачили наступне: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1D89DBD-432E-4A7E-B631-FB8DEA7F6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434" y="2227795"/>
            <a:ext cx="3117130" cy="261620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99C96DC-B107-4AF5-916E-C1D624546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866" y="5441034"/>
            <a:ext cx="2532405" cy="141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365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en-US" b="1" dirty="0"/>
              <a:t>Header guards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_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D30E4D-A924-450A-AE5B-81E031FD6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286" y="857691"/>
            <a:ext cx="2505425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8453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en-US" b="1" dirty="0"/>
              <a:t>Header guards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Тепер, при підключенні в </a:t>
            </a:r>
            <a:r>
              <a:rPr lang="en-US" sz="1800" dirty="0"/>
              <a:t>main.cpp </a:t>
            </a:r>
            <a:r>
              <a:rPr lang="uk-UA" sz="1800" dirty="0"/>
              <a:t>заголовку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math.h</a:t>
            </a:r>
            <a:r>
              <a:rPr lang="en-US" sz="1800" dirty="0"/>
              <a:t>, </a:t>
            </a:r>
            <a:r>
              <a:rPr lang="uk-UA" sz="1800" dirty="0"/>
              <a:t>препроцесор побачить, що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MATH_H</a:t>
            </a:r>
            <a:r>
              <a:rPr lang="en-US" sz="1800" dirty="0"/>
              <a:t> </a:t>
            </a:r>
            <a:r>
              <a:rPr lang="uk-UA" sz="1800" dirty="0"/>
              <a:t>ще не був визначений, і тому виконається директива визначення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MATH_H</a:t>
            </a:r>
            <a:r>
              <a:rPr lang="en-US" sz="1800" dirty="0"/>
              <a:t> </a:t>
            </a:r>
            <a:r>
              <a:rPr lang="uk-UA" sz="1800" dirty="0"/>
              <a:t>і вміст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math.h</a:t>
            </a:r>
            <a:r>
              <a:rPr lang="en-US" sz="1800" dirty="0"/>
              <a:t> </a:t>
            </a:r>
            <a:r>
              <a:rPr lang="uk-UA" sz="1800" dirty="0" err="1"/>
              <a:t>скопіюється</a:t>
            </a:r>
            <a:r>
              <a:rPr lang="uk-UA" sz="1800" dirty="0"/>
              <a:t> в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main.cpp</a:t>
            </a:r>
            <a:r>
              <a:rPr lang="en-US" sz="1800" dirty="0"/>
              <a:t>. </a:t>
            </a:r>
            <a:r>
              <a:rPr lang="uk-UA" sz="1800" dirty="0"/>
              <a:t>Потім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main.cpp </a:t>
            </a:r>
            <a:r>
              <a:rPr lang="uk-UA" sz="1800" dirty="0"/>
              <a:t>підключає заголовок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geometry.h</a:t>
            </a:r>
            <a:r>
              <a:rPr lang="en-US" sz="1800" dirty="0"/>
              <a:t>, </a:t>
            </a:r>
            <a:r>
              <a:rPr lang="uk-UA" sz="1800" dirty="0"/>
              <a:t>який, в свою чергу, підключає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math.h</a:t>
            </a:r>
            <a:r>
              <a:rPr lang="en-US" sz="1800" dirty="0"/>
              <a:t>. </a:t>
            </a:r>
            <a:r>
              <a:rPr lang="uk-UA" sz="1800" dirty="0"/>
              <a:t>Препроцесор бачить, що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MATH_H</a:t>
            </a:r>
            <a:r>
              <a:rPr lang="en-US" sz="1800" dirty="0"/>
              <a:t> </a:t>
            </a:r>
            <a:r>
              <a:rPr lang="uk-UA" sz="1800" dirty="0"/>
              <a:t>вже раніше був визначений і вміст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geometry.h</a:t>
            </a:r>
            <a:r>
              <a:rPr lang="en-US" sz="1800" dirty="0"/>
              <a:t> </a:t>
            </a:r>
            <a:r>
              <a:rPr lang="uk-UA" sz="1800" dirty="0"/>
              <a:t>не буде скопійовано в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main.cpp</a:t>
            </a:r>
            <a:r>
              <a:rPr lang="en-US" sz="1800" dirty="0"/>
              <a:t>.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Ось так можна боротися з дублюванням визначень за допомогою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header guards</a:t>
            </a:r>
            <a:r>
              <a:rPr lang="en-US" sz="1800" dirty="0"/>
              <a:t>.</a:t>
            </a:r>
            <a:endParaRPr lang="uk-UA" sz="1800" dirty="0"/>
          </a:p>
        </p:txBody>
      </p:sp>
    </p:spTree>
    <p:extLst>
      <p:ext uri="{BB962C8B-B14F-4D97-AF65-F5344CB8AC3E}">
        <p14:creationId xmlns:p14="http://schemas.microsoft.com/office/powerpoint/2010/main" val="10966503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en-US" b="1" dirty="0"/>
              <a:t>#pragma once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b="1" dirty="0">
                <a:highlight>
                  <a:srgbClr val="00FF00"/>
                </a:highlight>
              </a:rPr>
              <a:t>Більшість компіляторів підтримують більш просту, альтернативну форму </a:t>
            </a:r>
            <a:r>
              <a:rPr lang="en-US" sz="1800" b="1" dirty="0">
                <a:highlight>
                  <a:srgbClr val="00FF00"/>
                </a:highlight>
              </a:rPr>
              <a:t>header guards, — </a:t>
            </a:r>
            <a:r>
              <a:rPr lang="uk-UA" sz="1800" b="1" dirty="0">
                <a:highlight>
                  <a:srgbClr val="00FF00"/>
                </a:highlight>
              </a:rPr>
              <a:t>директиву</a:t>
            </a:r>
            <a:r>
              <a:rPr lang="en-US" sz="1800" b="1" dirty="0">
                <a:highlight>
                  <a:srgbClr val="00FF00"/>
                </a:highlight>
              </a:rPr>
              <a:t> 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pragma</a:t>
            </a:r>
            <a:r>
              <a:rPr lang="en-US" sz="1800" dirty="0"/>
              <a:t>: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Директива 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pragma once</a:t>
            </a:r>
            <a:r>
              <a:rPr lang="en-US" sz="1800" dirty="0"/>
              <a:t> </a:t>
            </a:r>
            <a:r>
              <a:rPr lang="uk-UA" sz="1800" dirty="0"/>
              <a:t>використовується в якості </a:t>
            </a:r>
            <a:r>
              <a:rPr lang="en-US" sz="1800" dirty="0"/>
              <a:t>header guards, </a:t>
            </a:r>
            <a:r>
              <a:rPr lang="uk-UA" sz="1800" dirty="0"/>
              <a:t>але має додаткові переваги: вона коротша і менш схильна до помилок.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Однак, 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pragma once</a:t>
            </a:r>
            <a:r>
              <a:rPr lang="en-US" sz="1800" dirty="0"/>
              <a:t> </a:t>
            </a:r>
            <a:r>
              <a:rPr lang="uk-UA" sz="1800" b="1" dirty="0">
                <a:highlight>
                  <a:srgbClr val="FFFF00"/>
                </a:highlight>
              </a:rPr>
              <a:t>не є офіційною частиною мови </a:t>
            </a:r>
            <a:r>
              <a:rPr lang="en-US" sz="1800" b="1" dirty="0">
                <a:highlight>
                  <a:srgbClr val="FFFF00"/>
                </a:highlight>
              </a:rPr>
              <a:t>C++, </a:t>
            </a:r>
            <a:r>
              <a:rPr lang="uk-UA" sz="1800" b="1" dirty="0">
                <a:highlight>
                  <a:srgbClr val="FFFF00"/>
                </a:highlight>
              </a:rPr>
              <a:t>і не всі компілятори її підтримують (хоча більшість сучасних компіляторів підтримують)</a:t>
            </a:r>
            <a:r>
              <a:rPr lang="uk-UA" sz="1800" dirty="0"/>
              <a:t>.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Я все ж рекомендую використовувати </a:t>
            </a:r>
            <a:r>
              <a:rPr lang="en-US" sz="1800" dirty="0"/>
              <a:t>header guards, </a:t>
            </a:r>
            <a:r>
              <a:rPr lang="uk-UA" sz="1800" dirty="0"/>
              <a:t>щоб зберегти максимальну сумісність вашого коду.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20D3443-828A-40D6-BF8E-7A4C2CC80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706" y="1481764"/>
            <a:ext cx="5098588" cy="178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4687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Конфлікт імен і простір імен </a:t>
            </a:r>
            <a:r>
              <a:rPr lang="en-US" b="1" dirty="0"/>
              <a:t>std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Припустимо, що вам потрібно поїхати до родичів в інше місто. У вас є тільки їх адреса: м. </a:t>
            </a:r>
            <a:r>
              <a:rPr lang="uk-UA" sz="1800" dirty="0" err="1"/>
              <a:t>Пуцьків</a:t>
            </a:r>
            <a:r>
              <a:rPr lang="uk-UA" sz="1800" dirty="0"/>
              <a:t>, вул. Вербова, 13. Потрапивши в місто </a:t>
            </a:r>
            <a:r>
              <a:rPr lang="uk-UA" sz="1800" dirty="0" err="1"/>
              <a:t>Пуцьків</a:t>
            </a:r>
            <a:r>
              <a:rPr lang="uk-UA" sz="1800" dirty="0"/>
              <a:t>, ви відкриваєте </a:t>
            </a:r>
            <a:r>
              <a:rPr lang="en-US" sz="1800" dirty="0"/>
              <a:t>Google.</a:t>
            </a:r>
            <a:r>
              <a:rPr lang="uk-UA" sz="1800" dirty="0"/>
              <a:t>Карти і бачите, що є дві вулиці з назвою Вербова, ще й в протилежних кінцях міста! Яка з них потрібна вам? Якщо у вас немає ніякої додаткової інформації (наприклад, ви знаєте, що їх будинок знаходиться біля аптеки або школи), вам доведеться зателефонувати їм і запитати. Щоб подібної плутанини не виникало, всі назви вулиць в місті повинні бути унікальними.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Аналогічно і в мові </a:t>
            </a:r>
            <a:r>
              <a:rPr lang="en-US" sz="1800" dirty="0"/>
              <a:t>C++, </a:t>
            </a:r>
            <a:r>
              <a:rPr lang="uk-UA" sz="1800" dirty="0"/>
              <a:t>всі ідентифікатори (імена змінних/функцій/класів тощо) повинні бути унікальними. Якщо у вашій програмі знаходяться два однакових ідентифікатори, то будьте певні, що ваша програма не </a:t>
            </a:r>
            <a:r>
              <a:rPr lang="uk-UA" sz="1800" dirty="0" err="1"/>
              <a:t>скомпілюється</a:t>
            </a:r>
            <a:r>
              <a:rPr lang="uk-UA" sz="1800" dirty="0"/>
              <a:t>: ви отримаєте помилку конфлікту імен.</a:t>
            </a:r>
          </a:p>
        </p:txBody>
      </p:sp>
    </p:spTree>
    <p:extLst>
      <p:ext uri="{BB962C8B-B14F-4D97-AF65-F5344CB8AC3E}">
        <p14:creationId xmlns:p14="http://schemas.microsoft.com/office/powerpoint/2010/main" val="8391360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_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_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FA8AC2-9CD2-4467-915D-48A8524C6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640" y="0"/>
            <a:ext cx="81427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9927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Конфлікт імен і простір імен </a:t>
            </a:r>
            <a:r>
              <a:rPr lang="en-US" b="1" dirty="0"/>
              <a:t>std</a:t>
            </a:r>
            <a:endParaRPr lang="uk-UA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Якщо взяти файли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a.cpp</a:t>
            </a:r>
            <a:r>
              <a:rPr lang="en-US" sz="1800" dirty="0"/>
              <a:t>,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b.cpp </a:t>
            </a:r>
            <a:r>
              <a:rPr lang="uk-UA" sz="1800" dirty="0"/>
              <a:t>і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main.cpp </a:t>
            </a:r>
            <a:r>
              <a:rPr lang="uk-UA" sz="1800" dirty="0"/>
              <a:t>окремо, то вони </a:t>
            </a:r>
            <a:r>
              <a:rPr lang="uk-UA" sz="1800" dirty="0" err="1"/>
              <a:t>скомпілюються</a:t>
            </a:r>
            <a:r>
              <a:rPr lang="uk-UA" sz="1800" dirty="0"/>
              <a:t>. Однак, якщо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a.cpp </a:t>
            </a:r>
            <a:r>
              <a:rPr lang="uk-UA" sz="1800" dirty="0"/>
              <a:t>і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b.cpp </a:t>
            </a:r>
            <a:r>
              <a:rPr lang="uk-UA" sz="1800" dirty="0"/>
              <a:t>розмістити в одному проекті — відбудеться конфлікт імен, оскільки визначення функції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doSomething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() </a:t>
            </a:r>
            <a:r>
              <a:rPr lang="uk-UA" sz="1800" dirty="0"/>
              <a:t>знаходиться відразу в обох файлах.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Більшість конфліктів імен відбуваються в двох випадках:</a:t>
            </a:r>
          </a:p>
          <a:p>
            <a:pPr marL="825750" indent="-285750">
              <a:lnSpc>
                <a:spcPct val="150000"/>
              </a:lnSpc>
              <a:spcBef>
                <a:spcPts val="0"/>
              </a:spcBef>
            </a:pPr>
            <a:r>
              <a:rPr lang="uk-UA" sz="1800" dirty="0"/>
              <a:t>   Файли, додані в один проект, мають функцію (чи глобальну змінну) з однаковими іменами (помилка на етапі </a:t>
            </a:r>
            <a:r>
              <a:rPr lang="uk-UA" sz="1800" dirty="0" err="1"/>
              <a:t>лінкінгу</a:t>
            </a:r>
            <a:r>
              <a:rPr lang="uk-UA" sz="1800" dirty="0"/>
              <a:t>).</a:t>
            </a:r>
          </a:p>
          <a:p>
            <a:pPr marL="825750" indent="-285750">
              <a:lnSpc>
                <a:spcPct val="150000"/>
              </a:lnSpc>
              <a:spcBef>
                <a:spcPts val="0"/>
              </a:spcBef>
            </a:pPr>
            <a:r>
              <a:rPr lang="uk-UA" sz="1800" dirty="0"/>
              <a:t>   Файл </a:t>
            </a:r>
            <a:r>
              <a:rPr lang="uk-UA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cpp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uk-UA" sz="1800" dirty="0"/>
              <a:t>підключає заголовок, в якому ідентифікатор конфліктує з ідентифікатором з файлу .</a:t>
            </a:r>
            <a:r>
              <a:rPr lang="en-US" sz="1800" dirty="0" err="1"/>
              <a:t>cpp</a:t>
            </a:r>
            <a:r>
              <a:rPr lang="en-US" sz="1800" dirty="0"/>
              <a:t> (</a:t>
            </a:r>
            <a:r>
              <a:rPr lang="uk-UA" sz="1800" dirty="0"/>
              <a:t>помилка на етапі компіляції).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Як тільки програми стають більшими, в них починає використовуватися більше ідентифікаторів. Отже, ймовірність виникнення конфлікту імен значно зростає. Хороша новина полягає в тому, що </a:t>
            </a:r>
            <a:r>
              <a:rPr lang="en-US" sz="1800" dirty="0"/>
              <a:t>C++ </a:t>
            </a:r>
            <a:r>
              <a:rPr lang="uk-UA" sz="1800" dirty="0"/>
              <a:t>надає достатньо механізмів для запобігання виникненню конфліктів імен (наприклад, локальна область видимості або простір імен).</a:t>
            </a:r>
          </a:p>
        </p:txBody>
      </p:sp>
    </p:spTree>
    <p:extLst>
      <p:ext uri="{BB962C8B-B14F-4D97-AF65-F5344CB8AC3E}">
        <p14:creationId xmlns:p14="http://schemas.microsoft.com/office/powerpoint/2010/main" val="42124127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Простір імен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У перших версіях мови </a:t>
            </a:r>
            <a:r>
              <a:rPr lang="en-US" sz="1800" dirty="0"/>
              <a:t>C++ </a:t>
            </a:r>
            <a:r>
              <a:rPr lang="uk-UA" sz="1800" dirty="0"/>
              <a:t>всі ідентифікатори зі Стандартної бібліотеки </a:t>
            </a:r>
            <a:r>
              <a:rPr lang="en-US" sz="1800" dirty="0"/>
              <a:t>C++ (</a:t>
            </a:r>
            <a:r>
              <a:rPr lang="uk-UA" sz="1800" dirty="0"/>
              <a:t>такі як </a:t>
            </a:r>
            <a:r>
              <a:rPr lang="en-US" sz="1800" dirty="0" err="1"/>
              <a:t>cin</a:t>
            </a:r>
            <a:r>
              <a:rPr lang="en-US" sz="1800" dirty="0"/>
              <a:t>/</a:t>
            </a:r>
            <a:r>
              <a:rPr lang="en-US" sz="1800" dirty="0" err="1"/>
              <a:t>cout</a:t>
            </a:r>
            <a:r>
              <a:rPr lang="en-US" sz="1800" dirty="0"/>
              <a:t> </a:t>
            </a:r>
            <a:r>
              <a:rPr lang="uk-UA" sz="1800" dirty="0"/>
              <a:t>та інші) можна було використовувати напряму. Проте це означало, що будь-який ідентифікатор зі Стандартної бібліотеки С++ потенційно міг конфліктувати з ім’ям, яке ви вибрали для власних ідентифікаторів. Код, який працював, міг раптово отримати конфлікт імен при підключенні нового заголовку зі Стандартної бібліотеки С++. Або, що ще гірше, код, написаний за стандартами однієї версії С++, міг вже не працювати в новій версії С++. Щоб вирішити цю проблему, весь функціонал Стандартної бібліотеки С++ перенесли в спеціальну область — простір імен (англ. “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namespace</a:t>
            </a:r>
            <a:r>
              <a:rPr lang="en-US" sz="1800" dirty="0"/>
              <a:t>”).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Так як місто гарантує, що всі вулиці в його межах мають унікальні назви, так і простір імен гарантує, що всі його ідентифікатори — унікальні.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uk-UA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Таким чином,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std::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uk-UA" sz="1800" dirty="0"/>
              <a:t>складається з двох частин: ідентифікатор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/>
              <a:t> </a:t>
            </a:r>
            <a:r>
              <a:rPr lang="uk-UA" sz="1800" dirty="0"/>
              <a:t>і простір імен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/>
              <a:t>. </a:t>
            </a:r>
            <a:r>
              <a:rPr lang="uk-UA" sz="1800" dirty="0"/>
              <a:t>Весь функціонал Стандартної бібліотеки </a:t>
            </a:r>
            <a:r>
              <a:rPr lang="en-US" sz="1800" dirty="0"/>
              <a:t>C++ </a:t>
            </a:r>
            <a:r>
              <a:rPr lang="uk-UA" sz="1800" dirty="0"/>
              <a:t>визначено всередині простору імен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/>
              <a:t> (</a:t>
            </a:r>
            <a:r>
              <a:rPr lang="uk-UA" sz="1800" dirty="0" err="1"/>
              <a:t>скор</a:t>
            </a:r>
            <a:r>
              <a:rPr lang="uk-UA" sz="1800" dirty="0"/>
              <a:t>. від англ. “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standard</a:t>
            </a:r>
            <a:r>
              <a:rPr lang="en-US" sz="1800" dirty="0"/>
              <a:t>“).</a:t>
            </a:r>
            <a:endParaRPr lang="uk-UA" sz="1800" dirty="0"/>
          </a:p>
        </p:txBody>
      </p:sp>
    </p:spTree>
    <p:extLst>
      <p:ext uri="{BB962C8B-B14F-4D97-AF65-F5344CB8AC3E}">
        <p14:creationId xmlns:p14="http://schemas.microsoft.com/office/powerpoint/2010/main" val="18829905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Простір імен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Ми ще поговоримо про простори імен на наступних </a:t>
            </a:r>
            <a:r>
              <a:rPr lang="uk-UA" sz="1800" dirty="0" err="1"/>
              <a:t>уроках</a:t>
            </a:r>
            <a:r>
              <a:rPr lang="uk-UA" sz="1800" dirty="0"/>
              <a:t>, а також розглянемо створення власного простору імен. Зараз, найголовніше, що вам потрібно запам’ятати, — щоразу, коли ви використовуєте ідентифікатори зі Стандартної бібліотеки С++ (наприклад,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/>
              <a:t>), </a:t>
            </a:r>
            <a:r>
              <a:rPr lang="uk-UA" sz="1800" dirty="0"/>
              <a:t>ви повинні повідомити компілятору, що цей ідентифікатор знаходиться всередині простору імен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/>
              <a:t>.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b="1" dirty="0">
                <a:highlight>
                  <a:srgbClr val="00FF00"/>
                </a:highlight>
              </a:rPr>
              <a:t>Правило: При використанні ідентифікаторів з простору імен, вказуйте простір імен, який ви використовуєте.</a:t>
            </a:r>
          </a:p>
        </p:txBody>
      </p:sp>
    </p:spTree>
    <p:extLst>
      <p:ext uri="{BB962C8B-B14F-4D97-AF65-F5344CB8AC3E}">
        <p14:creationId xmlns:p14="http://schemas.microsoft.com/office/powerpoint/2010/main" val="19574071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>
            <a:normAutofit fontScale="90000"/>
          </a:bodyPr>
          <a:lstStyle/>
          <a:p>
            <a:pPr marL="720000"/>
            <a:r>
              <a:rPr lang="uk-UA" b="1" dirty="0"/>
              <a:t>Оператор дозволу області видимості ::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_</a:t>
            </a:r>
            <a:r>
              <a:rPr lang="ru-RU" sz="1800" dirty="0" err="1"/>
              <a:t>Найпростіший</a:t>
            </a:r>
            <a:r>
              <a:rPr lang="ru-RU" sz="1800" dirty="0"/>
              <a:t> </a:t>
            </a:r>
            <a:r>
              <a:rPr lang="ru-RU" sz="1800" dirty="0" err="1"/>
              <a:t>спосіб</a:t>
            </a:r>
            <a:r>
              <a:rPr lang="ru-RU" sz="1800" dirty="0"/>
              <a:t> </a:t>
            </a:r>
            <a:r>
              <a:rPr lang="ru-RU" sz="1800" dirty="0" err="1"/>
              <a:t>повідомити</a:t>
            </a:r>
            <a:r>
              <a:rPr lang="ru-RU" sz="1800" dirty="0"/>
              <a:t> </a:t>
            </a:r>
            <a:r>
              <a:rPr lang="ru-RU" sz="1800" dirty="0" err="1"/>
              <a:t>компілятор</a:t>
            </a:r>
            <a:r>
              <a:rPr lang="ru-RU" sz="1800" dirty="0"/>
              <a:t>, </a:t>
            </a:r>
            <a:r>
              <a:rPr lang="ru-RU" sz="1800" dirty="0" err="1"/>
              <a:t>що</a:t>
            </a:r>
            <a:r>
              <a:rPr lang="ru-RU" sz="1800" dirty="0"/>
              <a:t> </a:t>
            </a:r>
            <a:r>
              <a:rPr lang="ru-RU" sz="1800" dirty="0" err="1"/>
              <a:t>певний</a:t>
            </a:r>
            <a:r>
              <a:rPr lang="ru-RU" sz="1800" dirty="0"/>
              <a:t> </a:t>
            </a:r>
            <a:r>
              <a:rPr lang="ru-RU" sz="1800" dirty="0" err="1"/>
              <a:t>ідентифікатор</a:t>
            </a:r>
            <a:r>
              <a:rPr lang="ru-RU" sz="1800" dirty="0"/>
              <a:t> </a:t>
            </a:r>
            <a:r>
              <a:rPr lang="ru-RU" sz="1800" dirty="0" err="1"/>
              <a:t>знаходиться</a:t>
            </a:r>
            <a:r>
              <a:rPr lang="ru-RU" sz="1800" dirty="0"/>
              <a:t> у </a:t>
            </a:r>
            <a:r>
              <a:rPr lang="ru-RU" sz="1800" dirty="0" err="1"/>
              <a:t>певному</a:t>
            </a:r>
            <a:r>
              <a:rPr lang="ru-RU" sz="1800" dirty="0"/>
              <a:t> </a:t>
            </a:r>
            <a:r>
              <a:rPr lang="ru-RU" sz="1800" dirty="0" err="1"/>
              <a:t>просторі</a:t>
            </a:r>
            <a:r>
              <a:rPr lang="ru-RU" sz="1800" dirty="0"/>
              <a:t> </a:t>
            </a:r>
            <a:r>
              <a:rPr lang="ru-RU" sz="1800" dirty="0" err="1"/>
              <a:t>імен</a:t>
            </a:r>
            <a:r>
              <a:rPr lang="ru-RU" sz="1800" dirty="0"/>
              <a:t> — </a:t>
            </a:r>
            <a:r>
              <a:rPr lang="ru-RU" sz="1800" b="1" dirty="0" err="1">
                <a:highlight>
                  <a:srgbClr val="00FF00"/>
                </a:highlight>
              </a:rPr>
              <a:t>використати</a:t>
            </a:r>
            <a:r>
              <a:rPr lang="ru-RU" sz="1800" b="1" dirty="0">
                <a:highlight>
                  <a:srgbClr val="00FF00"/>
                </a:highlight>
              </a:rPr>
              <a:t> оператор </a:t>
            </a:r>
            <a:r>
              <a:rPr lang="ru-RU" sz="1800" b="1" dirty="0" err="1">
                <a:highlight>
                  <a:srgbClr val="00FF00"/>
                </a:highlight>
              </a:rPr>
              <a:t>дозволу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області</a:t>
            </a:r>
            <a:r>
              <a:rPr lang="ru-RU" sz="1800" b="1" dirty="0">
                <a:highlight>
                  <a:srgbClr val="00FF00"/>
                </a:highlight>
              </a:rPr>
              <a:t> </a:t>
            </a:r>
            <a:r>
              <a:rPr lang="ru-RU" sz="1800" b="1" dirty="0" err="1">
                <a:highlight>
                  <a:srgbClr val="00FF00"/>
                </a:highlight>
              </a:rPr>
              <a:t>видимості</a:t>
            </a:r>
            <a:r>
              <a:rPr lang="ru-RU" sz="1800" b="1" dirty="0">
                <a:highlight>
                  <a:srgbClr val="00FF00"/>
                </a:highlight>
              </a:rPr>
              <a:t> ::</a:t>
            </a:r>
            <a:r>
              <a:rPr lang="ru-RU" sz="1800" dirty="0"/>
              <a:t>. </a:t>
            </a:r>
            <a:r>
              <a:rPr lang="ru-RU" sz="1800" dirty="0" err="1"/>
              <a:t>Наприклад</a:t>
            </a:r>
            <a:r>
              <a:rPr lang="ru-RU" sz="1800" dirty="0"/>
              <a:t>:</a:t>
            </a:r>
            <a:endParaRPr lang="en-US" sz="1800" dirty="0"/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std::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&lt;&lt; "Hello, world!";</a:t>
            </a:r>
          </a:p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Тут ми </a:t>
            </a:r>
            <a:r>
              <a:rPr lang="ru-RU" sz="1800" dirty="0" err="1"/>
              <a:t>повідомляємо</a:t>
            </a:r>
            <a:r>
              <a:rPr lang="ru-RU" sz="1800" dirty="0"/>
              <a:t> </a:t>
            </a:r>
            <a:r>
              <a:rPr lang="ru-RU" sz="1800" dirty="0" err="1"/>
              <a:t>компілятору</a:t>
            </a:r>
            <a:r>
              <a:rPr lang="ru-RU" sz="1800" dirty="0"/>
              <a:t>, </a:t>
            </a:r>
            <a:r>
              <a:rPr lang="ru-RU" sz="1800" dirty="0" err="1"/>
              <a:t>що</a:t>
            </a:r>
            <a:r>
              <a:rPr lang="ru-RU" sz="1800" dirty="0"/>
              <a:t> </a:t>
            </a:r>
            <a:r>
              <a:rPr lang="ru-RU" sz="1800" dirty="0" err="1"/>
              <a:t>хочемо</a:t>
            </a:r>
            <a:r>
              <a:rPr lang="ru-RU" sz="1800" dirty="0"/>
              <a:t> </a:t>
            </a:r>
            <a:r>
              <a:rPr lang="ru-RU" sz="1800" dirty="0" err="1"/>
              <a:t>використати</a:t>
            </a:r>
            <a:r>
              <a:rPr lang="ru-RU" sz="1800" dirty="0"/>
              <a:t> </a:t>
            </a:r>
            <a:r>
              <a:rPr lang="ru-RU" sz="1800" dirty="0" err="1"/>
              <a:t>об’єкт</a:t>
            </a:r>
            <a:r>
              <a:rPr lang="ru-RU" sz="1800" dirty="0"/>
              <a:t> </a:t>
            </a:r>
            <a:r>
              <a:rPr lang="ru-RU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cout</a:t>
            </a:r>
            <a:r>
              <a:rPr lang="ru-RU" sz="1800" dirty="0"/>
              <a:t> з простору </a:t>
            </a:r>
            <a:r>
              <a:rPr lang="ru-RU" sz="1800" dirty="0" err="1"/>
              <a:t>імен</a:t>
            </a:r>
            <a:r>
              <a:rPr lang="ru-RU" sz="1800" dirty="0"/>
              <a:t> </a:t>
            </a:r>
            <a:r>
              <a:rPr lang="ru-RU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ru-RU" sz="1800" dirty="0"/>
              <a:t>.</a:t>
            </a:r>
            <a:endParaRPr lang="uk-UA" sz="1800" dirty="0"/>
          </a:p>
        </p:txBody>
      </p:sp>
    </p:spTree>
    <p:extLst>
      <p:ext uri="{BB962C8B-B14F-4D97-AF65-F5344CB8AC3E}">
        <p14:creationId xmlns:p14="http://schemas.microsoft.com/office/powerpoint/2010/main" val="34397528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2004</TotalTime>
  <Words>2920</Words>
  <Application>Microsoft Office PowerPoint</Application>
  <PresentationFormat>Широкий екран</PresentationFormat>
  <Paragraphs>231</Paragraphs>
  <Slides>41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41</vt:i4>
      </vt:variant>
    </vt:vector>
  </HeadingPairs>
  <TitlesOfParts>
    <vt:vector size="46" baseType="lpstr">
      <vt:lpstr>Arial</vt:lpstr>
      <vt:lpstr>Calibri</vt:lpstr>
      <vt:lpstr>Consolas</vt:lpstr>
      <vt:lpstr>Tahoma</vt:lpstr>
      <vt:lpstr>Тема Office</vt:lpstr>
      <vt:lpstr>Препроцесор та його використання</vt:lpstr>
      <vt:lpstr>Препроцесор</vt:lpstr>
      <vt:lpstr>Препроцесор</vt:lpstr>
      <vt:lpstr>Препроцесор</vt:lpstr>
      <vt:lpstr>Препроцесор</vt:lpstr>
      <vt:lpstr>Препроцесор</vt:lpstr>
      <vt:lpstr>Директива #define</vt:lpstr>
      <vt:lpstr>Макроси-об’єкти з текст_заміна</vt:lpstr>
      <vt:lpstr>Макроси-об’єкти без текст_заміна</vt:lpstr>
      <vt:lpstr>_</vt:lpstr>
      <vt:lpstr>Макроси</vt:lpstr>
      <vt:lpstr>Макроси</vt:lpstr>
      <vt:lpstr>Макроси</vt:lpstr>
      <vt:lpstr>Умовна компіляція</vt:lpstr>
      <vt:lpstr>Умовна компіляція</vt:lpstr>
      <vt:lpstr>Умовна компіляція</vt:lpstr>
      <vt:lpstr>_</vt:lpstr>
      <vt:lpstr>_</vt:lpstr>
      <vt:lpstr>Область видимості директиви #define</vt:lpstr>
      <vt:lpstr>Область видимості директиви #define</vt:lpstr>
      <vt:lpstr>_</vt:lpstr>
      <vt:lpstr>Область видимості директиви #define</vt:lpstr>
      <vt:lpstr>Інші директиви препроцесора</vt:lpstr>
      <vt:lpstr>Інші директиви препроцесора</vt:lpstr>
      <vt:lpstr>_</vt:lpstr>
      <vt:lpstr>Header guards і директива #pragma once</vt:lpstr>
      <vt:lpstr>Header guards і директива #pragma once</vt:lpstr>
      <vt:lpstr>Header guards і директива #pragma once</vt:lpstr>
      <vt:lpstr>Header guards і директива #pragma once</vt:lpstr>
      <vt:lpstr>Header guards і директива #pragma once</vt:lpstr>
      <vt:lpstr>Header guards</vt:lpstr>
      <vt:lpstr>Header guards</vt:lpstr>
      <vt:lpstr>Header guards</vt:lpstr>
      <vt:lpstr>Header guards</vt:lpstr>
      <vt:lpstr>#pragma once</vt:lpstr>
      <vt:lpstr>Конфлікт імен і простір імен std</vt:lpstr>
      <vt:lpstr>_</vt:lpstr>
      <vt:lpstr>Конфлікт імен і простір імен std</vt:lpstr>
      <vt:lpstr>Простір імен</vt:lpstr>
      <vt:lpstr>Простір імен</vt:lpstr>
      <vt:lpstr>Оператор дозволу області видимості ::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Введення в вебдизайн</dc:title>
  <dc:creator>Alexander</dc:creator>
  <cp:lastModifiedBy>Alexander Vereshchagin</cp:lastModifiedBy>
  <cp:revision>148</cp:revision>
  <dcterms:created xsi:type="dcterms:W3CDTF">2021-08-19T17:51:13Z</dcterms:created>
  <dcterms:modified xsi:type="dcterms:W3CDTF">2024-03-07T23:44:23Z</dcterms:modified>
</cp:coreProperties>
</file>